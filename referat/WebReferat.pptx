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2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3082D-F9C3-F04F-AD06-B01828207846}" type="datetimeFigureOut">
              <a:rPr lang="en-BG" smtClean="0"/>
              <a:t>24.05.26</a:t>
            </a:fld>
            <a:endParaRPr lang="en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FB70-32D5-8C43-B33C-67B1E5D717A6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690133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3082D-F9C3-F04F-AD06-B01828207846}" type="datetimeFigureOut">
              <a:rPr lang="en-BG" smtClean="0"/>
              <a:t>24.05.26</a:t>
            </a:fld>
            <a:endParaRPr lang="en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FB70-32D5-8C43-B33C-67B1E5D717A6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524438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3082D-F9C3-F04F-AD06-B01828207846}" type="datetimeFigureOut">
              <a:rPr lang="en-BG" smtClean="0"/>
              <a:t>24.05.26</a:t>
            </a:fld>
            <a:endParaRPr lang="en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FB70-32D5-8C43-B33C-67B1E5D717A6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745767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3082D-F9C3-F04F-AD06-B01828207846}" type="datetimeFigureOut">
              <a:rPr lang="en-BG" smtClean="0"/>
              <a:t>24.05.26</a:t>
            </a:fld>
            <a:endParaRPr lang="en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FB70-32D5-8C43-B33C-67B1E5D717A6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110385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3082D-F9C3-F04F-AD06-B01828207846}" type="datetimeFigureOut">
              <a:rPr lang="en-BG" smtClean="0"/>
              <a:t>24.05.26</a:t>
            </a:fld>
            <a:endParaRPr lang="en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FB70-32D5-8C43-B33C-67B1E5D717A6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399302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3082D-F9C3-F04F-AD06-B01828207846}" type="datetimeFigureOut">
              <a:rPr lang="en-BG" smtClean="0"/>
              <a:t>24.05.26</a:t>
            </a:fld>
            <a:endParaRPr lang="en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FB70-32D5-8C43-B33C-67B1E5D717A6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035232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3082D-F9C3-F04F-AD06-B01828207846}" type="datetimeFigureOut">
              <a:rPr lang="en-BG" smtClean="0"/>
              <a:t>24.05.26</a:t>
            </a:fld>
            <a:endParaRPr lang="en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FB70-32D5-8C43-B33C-67B1E5D717A6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051607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3082D-F9C3-F04F-AD06-B01828207846}" type="datetimeFigureOut">
              <a:rPr lang="en-BG" smtClean="0"/>
              <a:t>24.05.26</a:t>
            </a:fld>
            <a:endParaRPr lang="en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FB70-32D5-8C43-B33C-67B1E5D717A6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761008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5523082D-F9C3-F04F-AD06-B01828207846}" type="datetimeFigureOut">
              <a:rPr lang="en-BG" smtClean="0"/>
              <a:t>24.05.26</a:t>
            </a:fld>
            <a:endParaRPr lang="en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1B2EFB70-32D5-8C43-B33C-67B1E5D717A6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598255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3082D-F9C3-F04F-AD06-B01828207846}" type="datetimeFigureOut">
              <a:rPr lang="en-BG" smtClean="0"/>
              <a:t>24.05.26</a:t>
            </a:fld>
            <a:endParaRPr lang="en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FB70-32D5-8C43-B33C-67B1E5D717A6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114758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3082D-F9C3-F04F-AD06-B01828207846}" type="datetimeFigureOut">
              <a:rPr lang="en-BG" smtClean="0"/>
              <a:t>24.05.26</a:t>
            </a:fld>
            <a:endParaRPr lang="en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FB70-32D5-8C43-B33C-67B1E5D717A6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8075992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3082D-F9C3-F04F-AD06-B01828207846}" type="datetimeFigureOut">
              <a:rPr lang="en-BG" smtClean="0"/>
              <a:t>24.05.26</a:t>
            </a:fld>
            <a:endParaRPr lang="en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FB70-32D5-8C43-B33C-67B1E5D717A6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91851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3082D-F9C3-F04F-AD06-B01828207846}" type="datetimeFigureOut">
              <a:rPr lang="en-BG" smtClean="0"/>
              <a:t>24.05.26</a:t>
            </a:fld>
            <a:endParaRPr lang="en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FB70-32D5-8C43-B33C-67B1E5D717A6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2054829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3082D-F9C3-F04F-AD06-B01828207846}" type="datetimeFigureOut">
              <a:rPr lang="en-BG" smtClean="0"/>
              <a:t>24.05.26</a:t>
            </a:fld>
            <a:endParaRPr lang="en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FB70-32D5-8C43-B33C-67B1E5D717A6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160771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5523082D-F9C3-F04F-AD06-B01828207846}" type="datetimeFigureOut">
              <a:rPr lang="en-BG" smtClean="0"/>
              <a:t>24.05.26</a:t>
            </a:fld>
            <a:endParaRPr lang="en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1B2EFB70-32D5-8C43-B33C-67B1E5D717A6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4137716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8F5419B-BCBD-42A2-BFFF-781C607339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1F6493-A11B-9F02-D08F-555DC61A1B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001" y="643467"/>
            <a:ext cx="10572000" cy="3776731"/>
          </a:xfrm>
          <a:effectLst/>
        </p:spPr>
        <p:txBody>
          <a:bodyPr>
            <a:normAutofit/>
          </a:bodyPr>
          <a:lstStyle/>
          <a:p>
            <a:r>
              <a:rPr lang="bg-BG" sz="6600" dirty="0">
                <a:solidFill>
                  <a:schemeClr val="tx1"/>
                </a:solidFill>
              </a:rPr>
              <a:t>Криптографско </a:t>
            </a:r>
            <a:r>
              <a:rPr lang="en-GB" sz="6600" dirty="0">
                <a:solidFill>
                  <a:schemeClr val="tx1"/>
                </a:solidFill>
              </a:rPr>
              <a:t>API </a:t>
            </a:r>
            <a:r>
              <a:rPr lang="bg-BG" sz="6600" dirty="0">
                <a:solidFill>
                  <a:schemeClr val="tx1"/>
                </a:solidFill>
              </a:rPr>
              <a:t>в уеб средата</a:t>
            </a:r>
            <a:endParaRPr lang="en-BG" sz="66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8CFDAE-B7AD-2004-142F-3A0AB41F6A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4420198"/>
            <a:ext cx="10572000" cy="1295623"/>
          </a:xfrm>
          <a:effectLst/>
        </p:spPr>
        <p:txBody>
          <a:bodyPr>
            <a:normAutofit/>
          </a:bodyPr>
          <a:lstStyle/>
          <a:p>
            <a:r>
              <a:rPr lang="bg-BG" sz="2400" dirty="0">
                <a:solidFill>
                  <a:schemeClr val="accent1"/>
                </a:solidFill>
              </a:rPr>
              <a:t>Йоан Байчев</a:t>
            </a:r>
            <a:endParaRPr lang="en-US" sz="2400" dirty="0">
              <a:solidFill>
                <a:schemeClr val="accent1"/>
              </a:solidFill>
            </a:endParaRPr>
          </a:p>
          <a:p>
            <a:r>
              <a:rPr lang="en-US" sz="2400" dirty="0">
                <a:solidFill>
                  <a:schemeClr val="accent1"/>
                </a:solidFill>
              </a:rPr>
              <a:t>0MI0600328</a:t>
            </a:r>
            <a:endParaRPr lang="en-BG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3670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D0A9C-7FBE-0321-5396-2FA45CC43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Защо изобщо ни трябва?</a:t>
            </a:r>
            <a:endParaRPr lang="en-B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C8F52-748A-C28C-0055-63931AC0D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G" dirty="0"/>
              <a:t>Логин и токени</a:t>
            </a:r>
          </a:p>
          <a:p>
            <a:r>
              <a:rPr lang="en-BG" dirty="0"/>
              <a:t>Криптиране на файл още преди качване      </a:t>
            </a:r>
          </a:p>
          <a:p>
            <a:r>
              <a:rPr lang="en-BG" dirty="0"/>
              <a:t>Подпис/проверка на цялост</a:t>
            </a:r>
          </a:p>
          <a:p>
            <a:endParaRPr lang="en-BG" dirty="0"/>
          </a:p>
        </p:txBody>
      </p:sp>
    </p:spTree>
    <p:extLst>
      <p:ext uri="{BB962C8B-B14F-4D97-AF65-F5344CB8AC3E}">
        <p14:creationId xmlns:p14="http://schemas.microsoft.com/office/powerpoint/2010/main" val="2458669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F24B0-5028-9253-188A-5EFD37DD2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Какво е </a:t>
            </a:r>
            <a:r>
              <a:rPr lang="en-GB" dirty="0"/>
              <a:t>Web Cryptography API?</a:t>
            </a:r>
            <a:endParaRPr lang="en-B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AA134-7655-1571-0327-B105DA3DD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/>
              <a:t>Стандартен интерфейс</a:t>
            </a:r>
          </a:p>
          <a:p>
            <a:r>
              <a:rPr lang="bg-BG" dirty="0"/>
              <a:t>Достъпване</a:t>
            </a:r>
          </a:p>
          <a:p>
            <a:pPr lvl="1"/>
            <a:r>
              <a:rPr lang="en-GB" dirty="0" err="1"/>
              <a:t>window.crypto</a:t>
            </a:r>
            <a:r>
              <a:rPr lang="bg-BG" dirty="0"/>
              <a:t> (за общи неща)</a:t>
            </a:r>
          </a:p>
          <a:p>
            <a:pPr lvl="1"/>
            <a:r>
              <a:rPr lang="en-GB" dirty="0" err="1"/>
              <a:t>crypto.subtle</a:t>
            </a:r>
            <a:r>
              <a:rPr lang="bg-BG" dirty="0"/>
              <a:t> (за самите оперативни неща)</a:t>
            </a:r>
          </a:p>
          <a:p>
            <a:r>
              <a:rPr lang="bg-BG" dirty="0"/>
              <a:t>Защо е по добре от </a:t>
            </a:r>
            <a:r>
              <a:rPr lang="en-US" dirty="0"/>
              <a:t>JS</a:t>
            </a:r>
            <a:r>
              <a:rPr lang="bg-BG" dirty="0"/>
              <a:t> библиотека</a:t>
            </a:r>
            <a:r>
              <a:rPr lang="en-US" dirty="0"/>
              <a:t>?</a:t>
            </a:r>
          </a:p>
          <a:p>
            <a:pPr marL="0" indent="0">
              <a:buNone/>
            </a:pPr>
            <a:endParaRPr lang="en-BG" dirty="0"/>
          </a:p>
        </p:txBody>
      </p:sp>
    </p:spTree>
    <p:extLst>
      <p:ext uri="{BB962C8B-B14F-4D97-AF65-F5344CB8AC3E}">
        <p14:creationId xmlns:p14="http://schemas.microsoft.com/office/powerpoint/2010/main" val="4221910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4CF12-6BAE-7B85-E82E-31CA2BCB1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Архитектура</a:t>
            </a:r>
            <a:endParaRPr lang="en-BG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A4FA4BC-D227-0ECE-61F3-70B6CD734A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64640" y="2509520"/>
            <a:ext cx="8061960" cy="399287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00368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CC7B4-1DF3-E4D1-2F78-C68419F34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Поток на едно повикване</a:t>
            </a:r>
            <a:endParaRPr lang="en-B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7FF903-6C2F-93F7-3978-07BA9613C6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9440" y="2641600"/>
            <a:ext cx="7548880" cy="3769212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08988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D312A-D6E3-1725-04BA-DECB641B9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Какво може </a:t>
            </a:r>
            <a:r>
              <a:rPr lang="en-GB" dirty="0" err="1"/>
              <a:t>SubtleCrypto</a:t>
            </a:r>
            <a:r>
              <a:rPr lang="en-GB" dirty="0"/>
              <a:t>?</a:t>
            </a:r>
            <a:endParaRPr lang="en-B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C0886-7273-A4FF-FBB0-B0FB66DC7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/>
              <a:t>Какво е</a:t>
            </a:r>
            <a:r>
              <a:rPr lang="en-GB" dirty="0"/>
              <a:t> </a:t>
            </a:r>
            <a:r>
              <a:rPr lang="en-GB" dirty="0" err="1"/>
              <a:t>SubtleCrypto</a:t>
            </a:r>
            <a:r>
              <a:rPr lang="bg-BG" dirty="0"/>
              <a:t>?</a:t>
            </a:r>
          </a:p>
          <a:p>
            <a:r>
              <a:rPr lang="bg-BG" dirty="0"/>
              <a:t>Криптографски операции</a:t>
            </a:r>
          </a:p>
          <a:p>
            <a:pPr lvl="1"/>
            <a:r>
              <a:rPr lang="bg-BG" dirty="0" err="1"/>
              <a:t>Хеширане</a:t>
            </a:r>
            <a:r>
              <a:rPr lang="bg-BG" dirty="0"/>
              <a:t> (</a:t>
            </a:r>
            <a:r>
              <a:rPr lang="en-US" dirty="0"/>
              <a:t>digest</a:t>
            </a:r>
            <a:r>
              <a:rPr lang="bg-BG" dirty="0"/>
              <a:t>)</a:t>
            </a:r>
            <a:endParaRPr lang="en-US" dirty="0"/>
          </a:p>
          <a:p>
            <a:pPr lvl="1"/>
            <a:r>
              <a:rPr lang="bg-BG" dirty="0"/>
              <a:t>Симетрично криптиране (</a:t>
            </a:r>
            <a:r>
              <a:rPr lang="en-US" dirty="0"/>
              <a:t>encrypt </a:t>
            </a:r>
            <a:r>
              <a:rPr lang="bg-BG" dirty="0"/>
              <a:t>и </a:t>
            </a:r>
            <a:r>
              <a:rPr lang="en-US" dirty="0"/>
              <a:t>decrypt</a:t>
            </a:r>
            <a:r>
              <a:rPr lang="bg-BG" dirty="0"/>
              <a:t>)</a:t>
            </a:r>
            <a:endParaRPr lang="en-US" dirty="0"/>
          </a:p>
          <a:p>
            <a:pPr lvl="1"/>
            <a:r>
              <a:rPr lang="bg-BG" dirty="0"/>
              <a:t>Асиметрично криптиране (</a:t>
            </a:r>
            <a:r>
              <a:rPr lang="en-US" dirty="0"/>
              <a:t>sign </a:t>
            </a:r>
            <a:r>
              <a:rPr lang="bg-BG" dirty="0"/>
              <a:t>и </a:t>
            </a:r>
            <a:r>
              <a:rPr lang="en-US" dirty="0"/>
              <a:t>verify</a:t>
            </a:r>
            <a:r>
              <a:rPr lang="bg-BG" dirty="0"/>
              <a:t>)</a:t>
            </a:r>
          </a:p>
          <a:p>
            <a:pPr lvl="1"/>
            <a:r>
              <a:rPr lang="bg-BG" dirty="0"/>
              <a:t>Управление на ключовете (</a:t>
            </a:r>
            <a:r>
              <a:rPr lang="en-US" dirty="0" err="1"/>
              <a:t>generateKey</a:t>
            </a:r>
            <a:r>
              <a:rPr lang="bg-BG" dirty="0"/>
              <a:t>) </a:t>
            </a:r>
            <a:endParaRPr lang="en-BG" dirty="0"/>
          </a:p>
        </p:txBody>
      </p:sp>
    </p:spTree>
    <p:extLst>
      <p:ext uri="{BB962C8B-B14F-4D97-AF65-F5344CB8AC3E}">
        <p14:creationId xmlns:p14="http://schemas.microsoft.com/office/powerpoint/2010/main" val="1759704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07326-0D4B-4A90-1918-37DBC4342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Secure Context</a:t>
            </a:r>
            <a:endParaRPr lang="en-BG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C0D5F2A-D5CE-FDC7-E997-FF2CD2399C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5488596"/>
              </p:ext>
            </p:extLst>
          </p:nvPr>
        </p:nvGraphicFramePr>
        <p:xfrm>
          <a:off x="619186" y="3627333"/>
          <a:ext cx="10754100" cy="2715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7050">
                  <a:extLst>
                    <a:ext uri="{9D8B030D-6E8A-4147-A177-3AD203B41FA5}">
                      <a16:colId xmlns:a16="http://schemas.microsoft.com/office/drawing/2014/main" val="3850152018"/>
                    </a:ext>
                  </a:extLst>
                </a:gridCol>
                <a:gridCol w="5377050">
                  <a:extLst>
                    <a:ext uri="{9D8B030D-6E8A-4147-A177-3AD203B41FA5}">
                      <a16:colId xmlns:a16="http://schemas.microsoft.com/office/drawing/2014/main" val="4083978232"/>
                    </a:ext>
                  </a:extLst>
                </a:gridCol>
              </a:tblGrid>
              <a:tr h="678815">
                <a:tc>
                  <a:txBody>
                    <a:bodyPr/>
                    <a:lstStyle/>
                    <a:p>
                      <a:r>
                        <a:rPr lang="bg-BG" dirty="0"/>
                        <a:t>✅</a:t>
                      </a:r>
                      <a:r>
                        <a:rPr lang="en-US" dirty="0"/>
                        <a:t> </a:t>
                      </a:r>
                      <a:r>
                        <a:rPr lang="bg-BG" dirty="0"/>
                        <a:t>Работи</a:t>
                      </a:r>
                      <a:endParaRPr lang="en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❌</a:t>
                      </a:r>
                      <a:r>
                        <a:rPr lang="en-US" dirty="0"/>
                        <a:t> </a:t>
                      </a:r>
                      <a:r>
                        <a:rPr lang="bg-BG" dirty="0"/>
                        <a:t>Не работи</a:t>
                      </a:r>
                      <a:endParaRPr lang="en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872203"/>
                  </a:ext>
                </a:extLst>
              </a:tr>
              <a:tr h="678815">
                <a:tc>
                  <a:txBody>
                    <a:bodyPr/>
                    <a:lstStyle/>
                    <a:p>
                      <a:r>
                        <a:rPr lang="en-GB" dirty="0"/>
                        <a:t>https://...</a:t>
                      </a:r>
                      <a:endParaRPr lang="en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http://...</a:t>
                      </a:r>
                      <a:endParaRPr lang="en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9322114"/>
                  </a:ext>
                </a:extLst>
              </a:tr>
              <a:tr h="678815">
                <a:tc>
                  <a:txBody>
                    <a:bodyPr/>
                    <a:lstStyle/>
                    <a:p>
                      <a:r>
                        <a:rPr lang="en-GB" dirty="0"/>
                        <a:t>http://localhost</a:t>
                      </a:r>
                      <a:endParaRPr lang="en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file:///...</a:t>
                      </a:r>
                      <a:endParaRPr lang="en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515567"/>
                  </a:ext>
                </a:extLst>
              </a:tr>
              <a:tr h="678815">
                <a:tc>
                  <a:txBody>
                    <a:bodyPr/>
                    <a:lstStyle/>
                    <a:p>
                      <a:r>
                        <a:rPr lang="en-GB" dirty="0"/>
                        <a:t>http://127.0.0.1</a:t>
                      </a:r>
                      <a:endParaRPr lang="en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смесен </a:t>
                      </a:r>
                      <a:r>
                        <a:rPr lang="en-GB" dirty="0"/>
                        <a:t>HTTP/HTTPS</a:t>
                      </a:r>
                      <a:endParaRPr lang="en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0973276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FB43FBE-BDD2-7AC1-A666-0A745E0D8090}"/>
              </a:ext>
            </a:extLst>
          </p:cNvPr>
          <p:cNvSpPr txBox="1">
            <a:spLocks/>
          </p:cNvSpPr>
          <p:nvPr/>
        </p:nvSpPr>
        <p:spPr>
          <a:xfrm>
            <a:off x="718949" y="2638847"/>
            <a:ext cx="10554574" cy="480273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bg-BG" dirty="0"/>
              <a:t>Какво е</a:t>
            </a:r>
            <a:r>
              <a:rPr lang="en-GB" dirty="0"/>
              <a:t> Secure Context</a:t>
            </a:r>
            <a:r>
              <a:rPr lang="bg-BG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75187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68881-A9AA-7C18-5927-D2B1E5B2C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Подводни камъни</a:t>
            </a:r>
            <a:endParaRPr lang="en-BG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85C25DA-7A37-C3A0-79E5-905BD8472C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0722531"/>
              </p:ext>
            </p:extLst>
          </p:nvPr>
        </p:nvGraphicFramePr>
        <p:xfrm>
          <a:off x="800852" y="2954020"/>
          <a:ext cx="10553700" cy="295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6850">
                  <a:extLst>
                    <a:ext uri="{9D8B030D-6E8A-4147-A177-3AD203B41FA5}">
                      <a16:colId xmlns:a16="http://schemas.microsoft.com/office/drawing/2014/main" val="4179130506"/>
                    </a:ext>
                  </a:extLst>
                </a:gridCol>
                <a:gridCol w="5276850">
                  <a:extLst>
                    <a:ext uri="{9D8B030D-6E8A-4147-A177-3AD203B41FA5}">
                      <a16:colId xmlns:a16="http://schemas.microsoft.com/office/drawing/2014/main" val="1224474761"/>
                    </a:ext>
                  </a:extLst>
                </a:gridCol>
              </a:tblGrid>
              <a:tr h="739775">
                <a:tc>
                  <a:txBody>
                    <a:bodyPr/>
                    <a:lstStyle/>
                    <a:p>
                      <a:r>
                        <a:rPr lang="bg-BG" dirty="0"/>
                        <a:t>⚠️ Грешка</a:t>
                      </a:r>
                      <a:endParaRPr lang="en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💥</a:t>
                      </a:r>
                      <a:r>
                        <a:rPr lang="en-US" dirty="0"/>
                        <a:t> </a:t>
                      </a:r>
                      <a:r>
                        <a:rPr lang="bg-BG" dirty="0"/>
                        <a:t>Защо е проблем</a:t>
                      </a:r>
                      <a:endParaRPr lang="en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7988359"/>
                  </a:ext>
                </a:extLst>
              </a:tr>
              <a:tr h="739775">
                <a:tc>
                  <a:txBody>
                    <a:bodyPr/>
                    <a:lstStyle/>
                    <a:p>
                      <a:r>
                        <a:rPr lang="bg-BG" dirty="0" err="1"/>
                        <a:t>Преизползван</a:t>
                      </a:r>
                      <a:r>
                        <a:rPr lang="bg-BG" dirty="0"/>
                        <a:t> </a:t>
                      </a:r>
                      <a:r>
                        <a:rPr lang="en-GB" dirty="0"/>
                        <a:t>IV </a:t>
                      </a:r>
                      <a:r>
                        <a:rPr lang="bg-BG" dirty="0"/>
                        <a:t>в </a:t>
                      </a:r>
                      <a:r>
                        <a:rPr lang="en-GB" dirty="0"/>
                        <a:t>AES-GCM</a:t>
                      </a:r>
                      <a:endParaRPr lang="en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Режимът се чупи, ключът може да изтече</a:t>
                      </a:r>
                      <a:endParaRPr lang="en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8154636"/>
                  </a:ext>
                </a:extLst>
              </a:tr>
              <a:tr h="739775">
                <a:tc>
                  <a:txBody>
                    <a:bodyPr/>
                    <a:lstStyle/>
                    <a:p>
                      <a:r>
                        <a:rPr lang="en-GB" dirty="0"/>
                        <a:t>digest </a:t>
                      </a:r>
                      <a:r>
                        <a:rPr lang="bg-BG" dirty="0"/>
                        <a:t>за пароли</a:t>
                      </a:r>
                      <a:endParaRPr lang="en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Твърде бърз — </a:t>
                      </a:r>
                      <a:r>
                        <a:rPr lang="bg-BG" dirty="0" err="1"/>
                        <a:t>бруте</a:t>
                      </a:r>
                      <a:r>
                        <a:rPr lang="bg-BG" dirty="0"/>
                        <a:t> </a:t>
                      </a:r>
                      <a:r>
                        <a:rPr lang="bg-BG" dirty="0" err="1"/>
                        <a:t>форс</a:t>
                      </a:r>
                      <a:r>
                        <a:rPr lang="bg-BG" dirty="0"/>
                        <a:t> е тривиален</a:t>
                      </a:r>
                      <a:endParaRPr lang="en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509918"/>
                  </a:ext>
                </a:extLst>
              </a:tr>
              <a:tr h="739775">
                <a:tc>
                  <a:txBody>
                    <a:bodyPr/>
                    <a:lstStyle/>
                    <a:p>
                      <a:r>
                        <a:rPr lang="bg-BG" dirty="0"/>
                        <a:t>Забравен </a:t>
                      </a:r>
                      <a:r>
                        <a:rPr lang="en-GB" dirty="0"/>
                        <a:t>secure context</a:t>
                      </a:r>
                      <a:endParaRPr lang="en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crypto.subtle</a:t>
                      </a:r>
                      <a:r>
                        <a:rPr lang="en-GB" dirty="0"/>
                        <a:t> </a:t>
                      </a:r>
                      <a:r>
                        <a:rPr lang="bg-BG" dirty="0"/>
                        <a:t>е </a:t>
                      </a:r>
                      <a:r>
                        <a:rPr lang="en-GB" dirty="0"/>
                        <a:t>undefined</a:t>
                      </a:r>
                      <a:endParaRPr lang="en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3054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2999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371FC-EE55-A19A-5772-5DCC8B017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Извод</a:t>
            </a:r>
            <a:endParaRPr lang="en-B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5F7E8-1FDD-97C0-A80F-42005A388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Web Crypto = </a:t>
            </a:r>
            <a:r>
              <a:rPr lang="bg-BG" dirty="0"/>
              <a:t>по-бързо, по-сигурно, по-малко код от чист </a:t>
            </a:r>
            <a:r>
              <a:rPr lang="en-GB" dirty="0"/>
              <a:t>JS</a:t>
            </a:r>
          </a:p>
          <a:p>
            <a:r>
              <a:rPr lang="bg-BG" dirty="0"/>
              <a:t>Не заменя </a:t>
            </a:r>
            <a:r>
              <a:rPr lang="en-GB" dirty="0"/>
              <a:t>TLS - </a:t>
            </a:r>
            <a:r>
              <a:rPr lang="bg-BG" dirty="0"/>
              <a:t>допълва го за операции вътре в страницата</a:t>
            </a:r>
            <a:endParaRPr lang="en-US" dirty="0"/>
          </a:p>
          <a:p>
            <a:r>
              <a:rPr lang="bg-BG" dirty="0"/>
              <a:t>Винаги: </a:t>
            </a:r>
            <a:r>
              <a:rPr lang="en-GB" dirty="0"/>
              <a:t>secure context + </a:t>
            </a:r>
            <a:r>
              <a:rPr lang="bg-BG" dirty="0"/>
              <a:t>правилни параметри</a:t>
            </a:r>
            <a:endParaRPr lang="en-BG" dirty="0"/>
          </a:p>
        </p:txBody>
      </p:sp>
    </p:spTree>
    <p:extLst>
      <p:ext uri="{BB962C8B-B14F-4D97-AF65-F5344CB8AC3E}">
        <p14:creationId xmlns:p14="http://schemas.microsoft.com/office/powerpoint/2010/main" val="178111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3967E-F1E0-1E66-95A0-9BCF5523F5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/>
              <a:t>Благодаря за вниманието!</a:t>
            </a:r>
            <a:endParaRPr lang="en-BG" dirty="0"/>
          </a:p>
        </p:txBody>
      </p:sp>
    </p:spTree>
    <p:extLst>
      <p:ext uri="{BB962C8B-B14F-4D97-AF65-F5344CB8AC3E}">
        <p14:creationId xmlns:p14="http://schemas.microsoft.com/office/powerpoint/2010/main" val="23046135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47</TotalTime>
  <Words>201</Words>
  <Application>Microsoft Macintosh PowerPoint</Application>
  <PresentationFormat>Widescreen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2</vt:lpstr>
      <vt:lpstr>Quotable</vt:lpstr>
      <vt:lpstr>Криптографско API в уеб средата</vt:lpstr>
      <vt:lpstr>Защо изобщо ни трябва?</vt:lpstr>
      <vt:lpstr>Какво е Web Cryptography API?</vt:lpstr>
      <vt:lpstr>Архитектура</vt:lpstr>
      <vt:lpstr>Поток на едно повикване</vt:lpstr>
      <vt:lpstr>Какво може SubtleCrypto?</vt:lpstr>
      <vt:lpstr>Secure Context</vt:lpstr>
      <vt:lpstr>Подводни камъни</vt:lpstr>
      <vt:lpstr>Извод</vt:lpstr>
      <vt:lpstr>Благодаря за вниманието!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Baychev, Yoan</dc:creator>
  <cp:lastModifiedBy>Baychev, Yoan</cp:lastModifiedBy>
  <cp:revision>1</cp:revision>
  <dcterms:created xsi:type="dcterms:W3CDTF">2026-05-24T19:28:32Z</dcterms:created>
  <dcterms:modified xsi:type="dcterms:W3CDTF">2026-05-24T20:15:40Z</dcterms:modified>
</cp:coreProperties>
</file>