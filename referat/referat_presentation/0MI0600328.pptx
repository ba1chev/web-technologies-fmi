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5FE75-3341-8547-80F9-F056A60EB220}" v="11" dt="2026-05-24T20:22:00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8"/>
  </p:normalViewPr>
  <p:slideViewPr>
    <p:cSldViewPr snapToGrid="0">
      <p:cViewPr varScale="1">
        <p:scale>
          <a:sx n="118" d="100"/>
          <a:sy n="118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ychev, Yoan" userId="092a3128-5617-4bf0-aba1-9eef59b08822" providerId="ADAL" clId="{11D10C37-8076-5462-BF59-71397736B2A6}"/>
    <pc:docChg chg="undo custSel addSld modSld">
      <pc:chgData name="Baychev, Yoan" userId="092a3128-5617-4bf0-aba1-9eef59b08822" providerId="ADAL" clId="{11D10C37-8076-5462-BF59-71397736B2A6}" dt="2026-05-24T20:25:23.438" v="25" actId="1076"/>
      <pc:docMkLst>
        <pc:docMk/>
      </pc:docMkLst>
      <pc:sldChg chg="addSp delSp modSp new mod">
        <pc:chgData name="Baychev, Yoan" userId="092a3128-5617-4bf0-aba1-9eef59b08822" providerId="ADAL" clId="{11D10C37-8076-5462-BF59-71397736B2A6}" dt="2026-05-24T20:25:23.438" v="25" actId="1076"/>
        <pc:sldMkLst>
          <pc:docMk/>
          <pc:sldMk cId="3763300203" sldId="268"/>
        </pc:sldMkLst>
        <pc:spChg chg="mod">
          <ac:chgData name="Baychev, Yoan" userId="092a3128-5617-4bf0-aba1-9eef59b08822" providerId="ADAL" clId="{11D10C37-8076-5462-BF59-71397736B2A6}" dt="2026-05-24T20:20:39.790" v="2"/>
          <ac:spMkLst>
            <pc:docMk/>
            <pc:sldMk cId="3763300203" sldId="268"/>
            <ac:spMk id="2" creationId="{980AE4BE-BE10-B137-9A54-245F4A030C96}"/>
          </ac:spMkLst>
        </pc:spChg>
        <pc:spChg chg="del mod">
          <ac:chgData name="Baychev, Yoan" userId="092a3128-5617-4bf0-aba1-9eef59b08822" providerId="ADAL" clId="{11D10C37-8076-5462-BF59-71397736B2A6}" dt="2026-05-24T20:21:45.067" v="7" actId="21"/>
          <ac:spMkLst>
            <pc:docMk/>
            <pc:sldMk cId="3763300203" sldId="268"/>
            <ac:spMk id="3" creationId="{71C553FF-EF0A-31F3-4644-39EC1836EC12}"/>
          </ac:spMkLst>
        </pc:spChg>
        <pc:spChg chg="add del mod">
          <ac:chgData name="Baychev, Yoan" userId="092a3128-5617-4bf0-aba1-9eef59b08822" providerId="ADAL" clId="{11D10C37-8076-5462-BF59-71397736B2A6}" dt="2026-05-24T20:25:01.686" v="20" actId="21"/>
          <ac:spMkLst>
            <pc:docMk/>
            <pc:sldMk cId="3763300203" sldId="268"/>
            <ac:spMk id="4" creationId="{BF46961A-A001-81D7-5C84-B59E1EBBC958}"/>
          </ac:spMkLst>
        </pc:spChg>
        <pc:spChg chg="add mod">
          <ac:chgData name="Baychev, Yoan" userId="092a3128-5617-4bf0-aba1-9eef59b08822" providerId="ADAL" clId="{11D10C37-8076-5462-BF59-71397736B2A6}" dt="2026-05-24T20:21:52.393" v="10"/>
          <ac:spMkLst>
            <pc:docMk/>
            <pc:sldMk cId="3763300203" sldId="268"/>
            <ac:spMk id="5" creationId="{F96E7962-F9F8-6EAC-71E4-1B2B4169F12D}"/>
          </ac:spMkLst>
        </pc:spChg>
        <pc:picChg chg="add mod">
          <ac:chgData name="Baychev, Yoan" userId="092a3128-5617-4bf0-aba1-9eef59b08822" providerId="ADAL" clId="{11D10C37-8076-5462-BF59-71397736B2A6}" dt="2026-05-24T20:25:23.438" v="25" actId="1076"/>
          <ac:picMkLst>
            <pc:docMk/>
            <pc:sldMk cId="3763300203" sldId="268"/>
            <ac:picMk id="7" creationId="{D7E7E84E-A1A5-EE91-4CE9-1EEA4548F3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9013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2443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4576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1038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9930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3523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5160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6100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9825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1475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07599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185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05482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6077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523082D-F9C3-F04F-AD06-B01828207846}" type="datetimeFigureOut">
              <a:rPr lang="en-BG" smtClean="0"/>
              <a:t>24.05.26</a:t>
            </a:fld>
            <a:endParaRPr lang="en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B2EFB70-32D5-8C43-B33C-67B1E5D717A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13771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8F5419B-BCBD-42A2-BFFF-781C60733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F6493-A11B-9F02-D08F-555DC61A1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643467"/>
            <a:ext cx="10572000" cy="3776731"/>
          </a:xfrm>
          <a:effectLst/>
        </p:spPr>
        <p:txBody>
          <a:bodyPr>
            <a:normAutofit/>
          </a:bodyPr>
          <a:lstStyle/>
          <a:p>
            <a:r>
              <a:rPr lang="bg-BG" sz="6600" dirty="0">
                <a:solidFill>
                  <a:schemeClr val="tx1"/>
                </a:solidFill>
              </a:rPr>
              <a:t>Криптографско </a:t>
            </a:r>
            <a:r>
              <a:rPr lang="en-GB" sz="6600" dirty="0">
                <a:solidFill>
                  <a:schemeClr val="tx1"/>
                </a:solidFill>
              </a:rPr>
              <a:t>API </a:t>
            </a:r>
            <a:r>
              <a:rPr lang="bg-BG" sz="6600" dirty="0">
                <a:solidFill>
                  <a:schemeClr val="tx1"/>
                </a:solidFill>
              </a:rPr>
              <a:t>в уеб средата</a:t>
            </a:r>
            <a:endParaRPr lang="en-BG" sz="6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CFDAE-B7AD-2004-142F-3A0AB41F6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4420198"/>
            <a:ext cx="10572000" cy="1295623"/>
          </a:xfrm>
          <a:effectLst/>
        </p:spPr>
        <p:txBody>
          <a:bodyPr>
            <a:normAutofit/>
          </a:bodyPr>
          <a:lstStyle/>
          <a:p>
            <a:r>
              <a:rPr lang="bg-BG" sz="2400" dirty="0">
                <a:solidFill>
                  <a:schemeClr val="accent1"/>
                </a:solidFill>
              </a:rPr>
              <a:t>Йоан Байчев</a:t>
            </a: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0MI0600328</a:t>
            </a:r>
            <a:endParaRPr lang="en-BG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67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0A9C-7FBE-0321-5396-2FA45CC4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Защо изобщо ни трябва?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8F52-748A-C28C-0055-63931AC0D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G" dirty="0"/>
              <a:t>Логин и токени</a:t>
            </a:r>
          </a:p>
          <a:p>
            <a:r>
              <a:rPr lang="en-BG" dirty="0"/>
              <a:t>Криптиране на файл още преди качване      </a:t>
            </a:r>
          </a:p>
          <a:p>
            <a:r>
              <a:rPr lang="en-BG" dirty="0"/>
              <a:t>Подпис/проверка на цялост</a:t>
            </a:r>
          </a:p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45866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24B0-5028-9253-188A-5EFD37DD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</a:t>
            </a:r>
            <a:r>
              <a:rPr lang="en-GB" dirty="0"/>
              <a:t>Web Cryptography API?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AA134-7655-1571-0327-B105DA3DD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Стандартен интерфейс</a:t>
            </a:r>
          </a:p>
          <a:p>
            <a:r>
              <a:rPr lang="bg-BG" dirty="0"/>
              <a:t>Достъпване</a:t>
            </a:r>
          </a:p>
          <a:p>
            <a:pPr lvl="1"/>
            <a:r>
              <a:rPr lang="en-GB" dirty="0" err="1"/>
              <a:t>window.crypto</a:t>
            </a:r>
            <a:r>
              <a:rPr lang="bg-BG" dirty="0"/>
              <a:t> (за общи неща)</a:t>
            </a:r>
          </a:p>
          <a:p>
            <a:pPr lvl="1"/>
            <a:r>
              <a:rPr lang="en-GB" dirty="0" err="1"/>
              <a:t>crypto.subtle</a:t>
            </a:r>
            <a:r>
              <a:rPr lang="bg-BG" dirty="0"/>
              <a:t> (за самите оперативни неща)</a:t>
            </a:r>
          </a:p>
          <a:p>
            <a:r>
              <a:rPr lang="bg-BG" dirty="0"/>
              <a:t>Защо е по добре от </a:t>
            </a:r>
            <a:r>
              <a:rPr lang="en-US" dirty="0"/>
              <a:t>JS</a:t>
            </a:r>
            <a:r>
              <a:rPr lang="bg-BG" dirty="0"/>
              <a:t> библиотека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422191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CF12-6BAE-7B85-E82E-31CA2BCB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</a:t>
            </a:r>
            <a:endParaRPr lang="en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4FA4BC-D227-0ECE-61F3-70B6CD734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4640" y="2509520"/>
            <a:ext cx="8061960" cy="399287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36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C7B4-1DF3-E4D1-2F78-C68419F3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Поток на едно повикване</a:t>
            </a:r>
            <a:endParaRPr lang="en-B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7FF903-6C2F-93F7-3978-07BA9613C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9440" y="2641600"/>
            <a:ext cx="7548880" cy="376921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898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312A-D6E3-1725-04BA-DECB641B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може </a:t>
            </a:r>
            <a:r>
              <a:rPr lang="en-GB" dirty="0" err="1"/>
              <a:t>SubtleCrypto</a:t>
            </a:r>
            <a:r>
              <a:rPr lang="en-GB" dirty="0"/>
              <a:t>?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0886-7273-A4FF-FBB0-B0FB66DC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971915"/>
            <a:ext cx="10554574" cy="3636511"/>
          </a:xfrm>
        </p:spPr>
        <p:txBody>
          <a:bodyPr/>
          <a:lstStyle/>
          <a:p>
            <a:r>
              <a:rPr lang="bg-BG" dirty="0"/>
              <a:t>Криптографски операции</a:t>
            </a:r>
          </a:p>
          <a:p>
            <a:pPr lvl="1"/>
            <a:r>
              <a:rPr lang="bg-BG" dirty="0" err="1"/>
              <a:t>Хеширане</a:t>
            </a:r>
            <a:r>
              <a:rPr lang="bg-BG" dirty="0"/>
              <a:t> (</a:t>
            </a:r>
            <a:r>
              <a:rPr lang="en-US" dirty="0"/>
              <a:t>digest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dirty="0"/>
              <a:t>Симетрично криптиране (</a:t>
            </a:r>
            <a:r>
              <a:rPr lang="en-US" dirty="0"/>
              <a:t>encrypt </a:t>
            </a:r>
            <a:r>
              <a:rPr lang="bg-BG" dirty="0"/>
              <a:t>и </a:t>
            </a:r>
            <a:r>
              <a:rPr lang="en-US" dirty="0"/>
              <a:t>decrypt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dirty="0"/>
              <a:t>Асиметрично криптиране (</a:t>
            </a:r>
            <a:r>
              <a:rPr lang="en-US" dirty="0"/>
              <a:t>sign </a:t>
            </a:r>
            <a:r>
              <a:rPr lang="bg-BG" dirty="0"/>
              <a:t>и </a:t>
            </a:r>
            <a:r>
              <a:rPr lang="en-US" dirty="0"/>
              <a:t>verify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Управление на ключовете (</a:t>
            </a:r>
            <a:r>
              <a:rPr lang="en-US" dirty="0" err="1"/>
              <a:t>generateKey</a:t>
            </a:r>
            <a:r>
              <a:rPr lang="en-US" dirty="0"/>
              <a:t>, </a:t>
            </a:r>
            <a:r>
              <a:rPr lang="en-US" dirty="0" err="1"/>
              <a:t>deriveKey</a:t>
            </a:r>
            <a:r>
              <a:rPr lang="bg-BG" dirty="0"/>
              <a:t>) 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75970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7326-0D4B-4A90-1918-37DBC434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Context</a:t>
            </a:r>
            <a:endParaRPr lang="en-B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D5F2A-D5CE-FDC7-E997-FF2CD2399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488596"/>
              </p:ext>
            </p:extLst>
          </p:nvPr>
        </p:nvGraphicFramePr>
        <p:xfrm>
          <a:off x="619186" y="3627333"/>
          <a:ext cx="10754100" cy="271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050">
                  <a:extLst>
                    <a:ext uri="{9D8B030D-6E8A-4147-A177-3AD203B41FA5}">
                      <a16:colId xmlns:a16="http://schemas.microsoft.com/office/drawing/2014/main" val="3850152018"/>
                    </a:ext>
                  </a:extLst>
                </a:gridCol>
                <a:gridCol w="5377050">
                  <a:extLst>
                    <a:ext uri="{9D8B030D-6E8A-4147-A177-3AD203B41FA5}">
                      <a16:colId xmlns:a16="http://schemas.microsoft.com/office/drawing/2014/main" val="4083978232"/>
                    </a:ext>
                  </a:extLst>
                </a:gridCol>
              </a:tblGrid>
              <a:tr h="678815">
                <a:tc>
                  <a:txBody>
                    <a:bodyPr/>
                    <a:lstStyle/>
                    <a:p>
                      <a:r>
                        <a:rPr lang="bg-BG" dirty="0"/>
                        <a:t>✅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Работи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❌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Не работи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872203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r>
                        <a:rPr lang="en-GB" dirty="0"/>
                        <a:t>https://...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http://...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322114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r>
                        <a:rPr lang="en-GB" dirty="0"/>
                        <a:t>http://localhost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file:///...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15567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r>
                        <a:rPr lang="en-GB" dirty="0"/>
                        <a:t>http://127.0.0.1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смесен </a:t>
                      </a:r>
                      <a:r>
                        <a:rPr lang="en-GB" dirty="0"/>
                        <a:t>HTTP/HTTPS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97327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B43FBE-BDD2-7AC1-A666-0A745E0D8090}"/>
              </a:ext>
            </a:extLst>
          </p:cNvPr>
          <p:cNvSpPr txBox="1">
            <a:spLocks/>
          </p:cNvSpPr>
          <p:nvPr/>
        </p:nvSpPr>
        <p:spPr>
          <a:xfrm>
            <a:off x="718949" y="2638847"/>
            <a:ext cx="10554574" cy="48027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/>
              <a:t>Какво е</a:t>
            </a:r>
            <a:r>
              <a:rPr lang="en-GB" dirty="0"/>
              <a:t> Secure Context</a:t>
            </a:r>
            <a:r>
              <a:rPr lang="bg-BG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518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8881-A9AA-7C18-5927-D2B1E5B2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Подводни камъни</a:t>
            </a:r>
            <a:endParaRPr lang="en-B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5C25DA-7A37-C3A0-79E5-905BD8472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722531"/>
              </p:ext>
            </p:extLst>
          </p:nvPr>
        </p:nvGraphicFramePr>
        <p:xfrm>
          <a:off x="800852" y="2954020"/>
          <a:ext cx="105537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50">
                  <a:extLst>
                    <a:ext uri="{9D8B030D-6E8A-4147-A177-3AD203B41FA5}">
                      <a16:colId xmlns:a16="http://schemas.microsoft.com/office/drawing/2014/main" val="4179130506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1224474761"/>
                    </a:ext>
                  </a:extLst>
                </a:gridCol>
              </a:tblGrid>
              <a:tr h="739775">
                <a:tc>
                  <a:txBody>
                    <a:bodyPr/>
                    <a:lstStyle/>
                    <a:p>
                      <a:r>
                        <a:rPr lang="bg-BG" dirty="0"/>
                        <a:t>⚠️ Грешка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💥</a:t>
                      </a:r>
                      <a:r>
                        <a:rPr lang="en-US" dirty="0"/>
                        <a:t> </a:t>
                      </a:r>
                      <a:r>
                        <a:rPr lang="bg-BG" dirty="0"/>
                        <a:t>Защо е проблем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988359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r>
                        <a:rPr lang="bg-BG" dirty="0" err="1"/>
                        <a:t>Преизползван</a:t>
                      </a:r>
                      <a:r>
                        <a:rPr lang="bg-BG" dirty="0"/>
                        <a:t> </a:t>
                      </a:r>
                      <a:r>
                        <a:rPr lang="en-GB" dirty="0"/>
                        <a:t>IV </a:t>
                      </a:r>
                      <a:r>
                        <a:rPr lang="bg-BG" dirty="0"/>
                        <a:t>в </a:t>
                      </a:r>
                      <a:r>
                        <a:rPr lang="en-GB" dirty="0"/>
                        <a:t>AES-GCM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Режимът се чупи, ключът може да изтече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154636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r>
                        <a:rPr lang="en-GB" dirty="0"/>
                        <a:t>digest </a:t>
                      </a:r>
                      <a:r>
                        <a:rPr lang="bg-BG" dirty="0"/>
                        <a:t>за пароли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Твърде бърз — </a:t>
                      </a:r>
                      <a:r>
                        <a:rPr lang="bg-BG" dirty="0" err="1"/>
                        <a:t>бруте</a:t>
                      </a:r>
                      <a:r>
                        <a:rPr lang="bg-BG" dirty="0"/>
                        <a:t> </a:t>
                      </a:r>
                      <a:r>
                        <a:rPr lang="bg-BG" dirty="0" err="1"/>
                        <a:t>форс</a:t>
                      </a:r>
                      <a:r>
                        <a:rPr lang="bg-BG" dirty="0"/>
                        <a:t> е тривиален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09918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r>
                        <a:rPr lang="bg-BG" dirty="0"/>
                        <a:t>Забравен </a:t>
                      </a:r>
                      <a:r>
                        <a:rPr lang="en-GB" dirty="0"/>
                        <a:t>secure context</a:t>
                      </a:r>
                      <a:endParaRPr lang="en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crypto.subtle</a:t>
                      </a:r>
                      <a:r>
                        <a:rPr lang="en-GB" dirty="0"/>
                        <a:t> </a:t>
                      </a:r>
                      <a:r>
                        <a:rPr lang="bg-BG" dirty="0"/>
                        <a:t>е </a:t>
                      </a:r>
                      <a:r>
                        <a:rPr lang="en-GB" dirty="0"/>
                        <a:t>undefined</a:t>
                      </a:r>
                      <a:endParaRPr lang="en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05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99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E4BE-BE10-B137-9A54-245F4A03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Кодов пример: </a:t>
            </a:r>
            <a:r>
              <a:rPr lang="en-GB" dirty="0"/>
              <a:t>SHA-256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E7E84E-A1A5-EE91-4CE9-1EEA4548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" y="2556362"/>
            <a:ext cx="8843010" cy="385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0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71FC-EE55-A19A-5772-5DCC8B01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Извод</a:t>
            </a:r>
            <a:endParaRPr lang="en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F7E8-1FDD-97C0-A80F-42005A38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Web Crypto = </a:t>
            </a:r>
            <a:r>
              <a:rPr lang="bg-BG" dirty="0"/>
              <a:t>по-бързо, по-сигурно, по-малко код от чист </a:t>
            </a:r>
            <a:r>
              <a:rPr lang="en-GB" dirty="0"/>
              <a:t>JS</a:t>
            </a:r>
          </a:p>
          <a:p>
            <a:r>
              <a:rPr lang="bg-BG" dirty="0"/>
              <a:t>Не заменя </a:t>
            </a:r>
            <a:r>
              <a:rPr lang="en-GB" dirty="0"/>
              <a:t>TLS - </a:t>
            </a:r>
            <a:r>
              <a:rPr lang="bg-BG" dirty="0"/>
              <a:t>допълва го за операции вътре в страницата</a:t>
            </a:r>
            <a:endParaRPr lang="en-US" dirty="0"/>
          </a:p>
          <a:p>
            <a:r>
              <a:rPr lang="bg-BG" dirty="0"/>
              <a:t>Винаги: </a:t>
            </a:r>
            <a:r>
              <a:rPr lang="en-GB" dirty="0"/>
              <a:t>secure context + </a:t>
            </a:r>
            <a:r>
              <a:rPr lang="bg-BG" dirty="0"/>
              <a:t>правилни параметри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7811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967E-F1E0-1E66-95A0-9BCF5523F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Благодаря за вниманието!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304613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56</TotalTime>
  <Words>203</Words>
  <Application>Microsoft Macintosh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2</vt:lpstr>
      <vt:lpstr>Quotable</vt:lpstr>
      <vt:lpstr>Криптографско API в уеб средата</vt:lpstr>
      <vt:lpstr>Защо изобщо ни трябва?</vt:lpstr>
      <vt:lpstr>Какво е Web Cryptography API?</vt:lpstr>
      <vt:lpstr>Архитектура</vt:lpstr>
      <vt:lpstr>Поток на едно повикване</vt:lpstr>
      <vt:lpstr>Какво може SubtleCrypto?</vt:lpstr>
      <vt:lpstr>Secure Context</vt:lpstr>
      <vt:lpstr>Подводни камъни</vt:lpstr>
      <vt:lpstr>Кодов пример: SHA-256</vt:lpstr>
      <vt:lpstr>Извод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Baychev, Yoan</dc:creator>
  <cp:lastModifiedBy>Baychev, Yoan</cp:lastModifiedBy>
  <cp:revision>4</cp:revision>
  <dcterms:created xsi:type="dcterms:W3CDTF">2026-05-24T19:28:32Z</dcterms:created>
  <dcterms:modified xsi:type="dcterms:W3CDTF">2026-05-24T20:44:57Z</dcterms:modified>
</cp:coreProperties>
</file>