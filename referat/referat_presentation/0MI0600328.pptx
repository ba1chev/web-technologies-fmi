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92" r:id="rId1"/>
  </p:sld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8" r:id="rId10"/>
    <p:sldId id="265" r:id="rId11"/>
    <p:sldId id="267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EF5FE75-3341-8547-80F9-F056A60EB220}" v="11" dt="2026-05-24T20:22:00.48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20"/>
    <p:restoredTop sz="94638"/>
  </p:normalViewPr>
  <p:slideViewPr>
    <p:cSldViewPr snapToGrid="0">
      <p:cViewPr varScale="1">
        <p:scale>
          <a:sx n="118" d="100"/>
          <a:sy n="118" d="100"/>
        </p:scale>
        <p:origin x="488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aychev, Yoan" userId="092a3128-5617-4bf0-aba1-9eef59b08822" providerId="ADAL" clId="{11D10C37-8076-5462-BF59-71397736B2A6}"/>
    <pc:docChg chg="undo custSel addSld modSld">
      <pc:chgData name="Baychev, Yoan" userId="092a3128-5617-4bf0-aba1-9eef59b08822" providerId="ADAL" clId="{11D10C37-8076-5462-BF59-71397736B2A6}" dt="2026-05-24T20:25:23.438" v="25" actId="1076"/>
      <pc:docMkLst>
        <pc:docMk/>
      </pc:docMkLst>
      <pc:sldChg chg="addSp delSp modSp new mod">
        <pc:chgData name="Baychev, Yoan" userId="092a3128-5617-4bf0-aba1-9eef59b08822" providerId="ADAL" clId="{11D10C37-8076-5462-BF59-71397736B2A6}" dt="2026-05-24T20:25:23.438" v="25" actId="1076"/>
        <pc:sldMkLst>
          <pc:docMk/>
          <pc:sldMk cId="3763300203" sldId="268"/>
        </pc:sldMkLst>
        <pc:spChg chg="mod">
          <ac:chgData name="Baychev, Yoan" userId="092a3128-5617-4bf0-aba1-9eef59b08822" providerId="ADAL" clId="{11D10C37-8076-5462-BF59-71397736B2A6}" dt="2026-05-24T20:20:39.790" v="2"/>
          <ac:spMkLst>
            <pc:docMk/>
            <pc:sldMk cId="3763300203" sldId="268"/>
            <ac:spMk id="2" creationId="{980AE4BE-BE10-B137-9A54-245F4A030C96}"/>
          </ac:spMkLst>
        </pc:spChg>
        <pc:spChg chg="del mod">
          <ac:chgData name="Baychev, Yoan" userId="092a3128-5617-4bf0-aba1-9eef59b08822" providerId="ADAL" clId="{11D10C37-8076-5462-BF59-71397736B2A6}" dt="2026-05-24T20:21:45.067" v="7" actId="21"/>
          <ac:spMkLst>
            <pc:docMk/>
            <pc:sldMk cId="3763300203" sldId="268"/>
            <ac:spMk id="3" creationId="{71C553FF-EF0A-31F3-4644-39EC1836EC12}"/>
          </ac:spMkLst>
        </pc:spChg>
        <pc:spChg chg="add del mod">
          <ac:chgData name="Baychev, Yoan" userId="092a3128-5617-4bf0-aba1-9eef59b08822" providerId="ADAL" clId="{11D10C37-8076-5462-BF59-71397736B2A6}" dt="2026-05-24T20:25:01.686" v="20" actId="21"/>
          <ac:spMkLst>
            <pc:docMk/>
            <pc:sldMk cId="3763300203" sldId="268"/>
            <ac:spMk id="4" creationId="{BF46961A-A001-81D7-5C84-B59E1EBBC958}"/>
          </ac:spMkLst>
        </pc:spChg>
        <pc:spChg chg="add mod">
          <ac:chgData name="Baychev, Yoan" userId="092a3128-5617-4bf0-aba1-9eef59b08822" providerId="ADAL" clId="{11D10C37-8076-5462-BF59-71397736B2A6}" dt="2026-05-24T20:21:52.393" v="10"/>
          <ac:spMkLst>
            <pc:docMk/>
            <pc:sldMk cId="3763300203" sldId="268"/>
            <ac:spMk id="5" creationId="{F96E7962-F9F8-6EAC-71E4-1B2B4169F12D}"/>
          </ac:spMkLst>
        </pc:spChg>
        <pc:picChg chg="add mod">
          <ac:chgData name="Baychev, Yoan" userId="092a3128-5617-4bf0-aba1-9eef59b08822" providerId="ADAL" clId="{11D10C37-8076-5462-BF59-71397736B2A6}" dt="2026-05-24T20:25:23.438" v="25" actId="1076"/>
          <ac:picMkLst>
            <pc:docMk/>
            <pc:sldMk cId="3763300203" sldId="268"/>
            <ac:picMk id="7" creationId="{D7E7E84E-A1A5-EE91-4CE9-1EEA4548F377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-3175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5760" y="0"/>
                </a:moveTo>
                <a:lnTo>
                  <a:pt x="0" y="0"/>
                </a:lnTo>
                <a:lnTo>
                  <a:pt x="0" y="3090"/>
                </a:lnTo>
                <a:lnTo>
                  <a:pt x="943" y="3090"/>
                </a:lnTo>
                <a:lnTo>
                  <a:pt x="1123" y="3270"/>
                </a:lnTo>
                <a:lnTo>
                  <a:pt x="1123" y="3270"/>
                </a:lnTo>
                <a:lnTo>
                  <a:pt x="1127" y="3272"/>
                </a:lnTo>
                <a:lnTo>
                  <a:pt x="1133" y="3275"/>
                </a:lnTo>
                <a:lnTo>
                  <a:pt x="1139" y="3278"/>
                </a:lnTo>
                <a:lnTo>
                  <a:pt x="1144" y="3278"/>
                </a:lnTo>
                <a:lnTo>
                  <a:pt x="1150" y="3278"/>
                </a:lnTo>
                <a:lnTo>
                  <a:pt x="1155" y="3275"/>
                </a:lnTo>
                <a:lnTo>
                  <a:pt x="1161" y="3272"/>
                </a:lnTo>
                <a:lnTo>
                  <a:pt x="1165" y="3270"/>
                </a:lnTo>
                <a:lnTo>
                  <a:pt x="1345" y="3090"/>
                </a:lnTo>
                <a:lnTo>
                  <a:pt x="5760" y="3090"/>
                </a:lnTo>
                <a:lnTo>
                  <a:pt x="5760" y="0"/>
                </a:lnTo>
                <a:close/>
              </a:path>
            </a:pathLst>
          </a:custGeom>
          <a:ln/>
          <a:effectLst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BG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10001" y="1449147"/>
            <a:ext cx="10572000" cy="2971051"/>
          </a:xfrm>
        </p:spPr>
        <p:txBody>
          <a:bodyPr/>
          <a:lstStyle>
            <a:lvl1pPr>
              <a:defRPr sz="5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10001" y="5280847"/>
            <a:ext cx="10572000" cy="434974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23082D-F9C3-F04F-AD06-B01828207846}" type="datetimeFigureOut">
              <a:rPr lang="en-BG" smtClean="0"/>
              <a:t>24.05.26</a:t>
            </a:fld>
            <a:endParaRPr lang="en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EFB70-32D5-8C43-B33C-67B1E5D717A6}" type="slidenum">
              <a:rPr lang="en-BG" smtClean="0"/>
              <a:t>‹#›</a:t>
            </a:fld>
            <a:endParaRPr lang="en-BG"/>
          </a:p>
        </p:txBody>
      </p:sp>
    </p:spTree>
    <p:extLst>
      <p:ext uri="{BB962C8B-B14F-4D97-AF65-F5344CB8AC3E}">
        <p14:creationId xmlns:p14="http://schemas.microsoft.com/office/powerpoint/2010/main" val="26901335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8712" y="2222287"/>
            <a:ext cx="10554574" cy="363651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23082D-F9C3-F04F-AD06-B01828207846}" type="datetimeFigureOut">
              <a:rPr lang="en-BG" smtClean="0"/>
              <a:t>24.05.26</a:t>
            </a:fld>
            <a:endParaRPr lang="en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EFB70-32D5-8C43-B33C-67B1E5D717A6}" type="slidenum">
              <a:rPr lang="en-BG" smtClean="0"/>
              <a:t>‹#›</a:t>
            </a:fld>
            <a:endParaRPr lang="en-BG"/>
          </a:p>
        </p:txBody>
      </p:sp>
    </p:spTree>
    <p:extLst>
      <p:ext uri="{BB962C8B-B14F-4D97-AF65-F5344CB8AC3E}">
        <p14:creationId xmlns:p14="http://schemas.microsoft.com/office/powerpoint/2010/main" val="35244384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7"/>
          <p:cNvSpPr/>
          <p:nvPr/>
        </p:nvSpPr>
        <p:spPr bwMode="auto">
          <a:xfrm>
            <a:off x="0" y="1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0" y="0"/>
                </a:moveTo>
                <a:lnTo>
                  <a:pt x="5760" y="0"/>
                </a:lnTo>
                <a:lnTo>
                  <a:pt x="5760" y="3090"/>
                </a:lnTo>
                <a:lnTo>
                  <a:pt x="4817" y="3090"/>
                </a:lnTo>
                <a:lnTo>
                  <a:pt x="4637" y="3270"/>
                </a:lnTo>
                <a:lnTo>
                  <a:pt x="4637" y="3270"/>
                </a:lnTo>
                <a:lnTo>
                  <a:pt x="4633" y="3272"/>
                </a:lnTo>
                <a:lnTo>
                  <a:pt x="4627" y="3275"/>
                </a:lnTo>
                <a:lnTo>
                  <a:pt x="4621" y="3278"/>
                </a:lnTo>
                <a:lnTo>
                  <a:pt x="4616" y="3278"/>
                </a:lnTo>
                <a:lnTo>
                  <a:pt x="4610" y="3278"/>
                </a:lnTo>
                <a:lnTo>
                  <a:pt x="4605" y="3275"/>
                </a:lnTo>
                <a:lnTo>
                  <a:pt x="4599" y="3272"/>
                </a:lnTo>
                <a:lnTo>
                  <a:pt x="4595" y="3270"/>
                </a:lnTo>
                <a:lnTo>
                  <a:pt x="4415" y="3090"/>
                </a:lnTo>
                <a:lnTo>
                  <a:pt x="0" y="309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2951396"/>
            <a:ext cx="10561418" cy="1468800"/>
          </a:xfrm>
        </p:spPr>
        <p:txBody>
          <a:bodyPr anchor="b"/>
          <a:lstStyle>
            <a:lvl1pPr algn="r">
              <a:defRPr sz="4800" b="1" cap="none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000" y="5281201"/>
            <a:ext cx="10561418" cy="433955"/>
          </a:xfrm>
        </p:spPr>
        <p:txBody>
          <a:bodyPr anchor="t">
            <a:no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23082D-F9C3-F04F-AD06-B01828207846}" type="datetimeFigureOut">
              <a:rPr lang="en-BG" smtClean="0"/>
              <a:t>24.05.26</a:t>
            </a:fld>
            <a:endParaRPr lang="en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EFB70-32D5-8C43-B33C-67B1E5D717A6}" type="slidenum">
              <a:rPr lang="en-BG" smtClean="0"/>
              <a:t>‹#›</a:t>
            </a:fld>
            <a:endParaRPr lang="en-BG"/>
          </a:p>
        </p:txBody>
      </p:sp>
    </p:spTree>
    <p:extLst>
      <p:ext uri="{BB962C8B-B14F-4D97-AF65-F5344CB8AC3E}">
        <p14:creationId xmlns:p14="http://schemas.microsoft.com/office/powerpoint/2010/main" val="17457671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8712" y="2222287"/>
            <a:ext cx="5185873" cy="3638763"/>
          </a:xfrm>
        </p:spPr>
        <p:txBody>
          <a:bodyPr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7415" y="2222287"/>
            <a:ext cx="5194583" cy="3638764"/>
          </a:xfrm>
        </p:spPr>
        <p:txBody>
          <a:bodyPr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23082D-F9C3-F04F-AD06-B01828207846}" type="datetimeFigureOut">
              <a:rPr lang="en-BG" smtClean="0"/>
              <a:t>24.05.26</a:t>
            </a:fld>
            <a:endParaRPr lang="en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EFB70-32D5-8C43-B33C-67B1E5D717A6}" type="slidenum">
              <a:rPr lang="en-BG" smtClean="0"/>
              <a:t>‹#›</a:t>
            </a:fld>
            <a:endParaRPr lang="en-BG"/>
          </a:p>
        </p:txBody>
      </p:sp>
    </p:spTree>
    <p:extLst>
      <p:ext uri="{BB962C8B-B14F-4D97-AF65-F5344CB8AC3E}">
        <p14:creationId xmlns:p14="http://schemas.microsoft.com/office/powerpoint/2010/main" val="31103857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4728" y="2174875"/>
            <a:ext cx="5189857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14729" y="2751138"/>
            <a:ext cx="5189856" cy="3109913"/>
          </a:xfrm>
        </p:spPr>
        <p:txBody>
          <a:bodyPr anchor="t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7415" y="2174875"/>
            <a:ext cx="5194583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7415" y="2751138"/>
            <a:ext cx="5194583" cy="3109913"/>
          </a:xfrm>
        </p:spPr>
        <p:txBody>
          <a:bodyPr anchor="t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23082D-F9C3-F04F-AD06-B01828207846}" type="datetimeFigureOut">
              <a:rPr lang="en-BG" smtClean="0"/>
              <a:t>24.05.26</a:t>
            </a:fld>
            <a:endParaRPr lang="en-BG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G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EFB70-32D5-8C43-B33C-67B1E5D717A6}" type="slidenum">
              <a:rPr lang="en-BG" smtClean="0"/>
              <a:t>‹#›</a:t>
            </a:fld>
            <a:endParaRPr lang="en-BG"/>
          </a:p>
        </p:txBody>
      </p:sp>
    </p:spTree>
    <p:extLst>
      <p:ext uri="{BB962C8B-B14F-4D97-AF65-F5344CB8AC3E}">
        <p14:creationId xmlns:p14="http://schemas.microsoft.com/office/powerpoint/2010/main" val="23993023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23082D-F9C3-F04F-AD06-B01828207846}" type="datetimeFigureOut">
              <a:rPr lang="en-BG" smtClean="0"/>
              <a:t>24.05.26</a:t>
            </a:fld>
            <a:endParaRPr lang="en-BG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G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EFB70-32D5-8C43-B33C-67B1E5D717A6}" type="slidenum">
              <a:rPr lang="en-BG" smtClean="0"/>
              <a:t>‹#›</a:t>
            </a:fld>
            <a:endParaRPr lang="en-BG"/>
          </a:p>
        </p:txBody>
      </p:sp>
    </p:spTree>
    <p:extLst>
      <p:ext uri="{BB962C8B-B14F-4D97-AF65-F5344CB8AC3E}">
        <p14:creationId xmlns:p14="http://schemas.microsoft.com/office/powerpoint/2010/main" val="20352325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23082D-F9C3-F04F-AD06-B01828207846}" type="datetimeFigureOut">
              <a:rPr lang="en-BG" smtClean="0"/>
              <a:t>24.05.26</a:t>
            </a:fld>
            <a:endParaRPr lang="en-BG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G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EFB70-32D5-8C43-B33C-67B1E5D717A6}" type="slidenum">
              <a:rPr lang="en-BG" smtClean="0"/>
              <a:t>‹#›</a:t>
            </a:fld>
            <a:endParaRPr lang="en-BG"/>
          </a:p>
        </p:txBody>
      </p:sp>
    </p:spTree>
    <p:extLst>
      <p:ext uri="{BB962C8B-B14F-4D97-AF65-F5344CB8AC3E}">
        <p14:creationId xmlns:p14="http://schemas.microsoft.com/office/powerpoint/2010/main" val="10516073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1073151" y="446087"/>
            <a:ext cx="3547533" cy="1814651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3151" y="446088"/>
            <a:ext cx="3547533" cy="1618396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446088"/>
            <a:ext cx="6252633" cy="5414963"/>
          </a:xfrm>
        </p:spPr>
        <p:txBody>
          <a:bodyPr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73151" y="2260738"/>
            <a:ext cx="3547533" cy="3600311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23082D-F9C3-F04F-AD06-B01828207846}" type="datetimeFigureOut">
              <a:rPr lang="en-BG" smtClean="0"/>
              <a:t>24.05.26</a:t>
            </a:fld>
            <a:endParaRPr lang="en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EFB70-32D5-8C43-B33C-67B1E5D717A6}" type="slidenum">
              <a:rPr lang="en-BG" smtClean="0"/>
              <a:t>‹#›</a:t>
            </a:fld>
            <a:endParaRPr lang="en-BG"/>
          </a:p>
        </p:txBody>
      </p:sp>
    </p:spTree>
    <p:extLst>
      <p:ext uri="{BB962C8B-B14F-4D97-AF65-F5344CB8AC3E}">
        <p14:creationId xmlns:p14="http://schemas.microsoft.com/office/powerpoint/2010/main" val="7610085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4728" y="727522"/>
            <a:ext cx="4852988" cy="1617163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9" name="Picture Placeholder 11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6098117" y="0"/>
            <a:ext cx="6093883" cy="6858000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noFill/>
          <a:ln w="9525">
            <a:solidFill>
              <a:schemeClr val="tx2"/>
            </a:solidFill>
            <a:round/>
            <a:headEnd/>
            <a:tailEnd/>
          </a:ln>
          <a:effectLst/>
        </p:spPr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algn="ctr">
              <a:buFontTx/>
              <a:buNone/>
              <a:defRPr sz="1400"/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4728" y="2344684"/>
            <a:ext cx="4852988" cy="3516365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885810" y="6041362"/>
            <a:ext cx="976879" cy="365125"/>
          </a:xfrm>
        </p:spPr>
        <p:txBody>
          <a:bodyPr/>
          <a:lstStyle/>
          <a:p>
            <a:fld id="{5523082D-F9C3-F04F-AD06-B01828207846}" type="datetimeFigureOut">
              <a:rPr lang="en-BG" smtClean="0"/>
              <a:t>24.05.26</a:t>
            </a:fld>
            <a:endParaRPr lang="en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90396" y="6041362"/>
            <a:ext cx="3295413" cy="365125"/>
          </a:xfrm>
        </p:spPr>
        <p:txBody>
          <a:bodyPr/>
          <a:lstStyle/>
          <a:p>
            <a:endParaRPr lang="en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862689" y="5915888"/>
            <a:ext cx="1062155" cy="490599"/>
          </a:xfrm>
        </p:spPr>
        <p:txBody>
          <a:bodyPr/>
          <a:lstStyle/>
          <a:p>
            <a:fld id="{1B2EFB70-32D5-8C43-B33C-67B1E5D717A6}" type="slidenum">
              <a:rPr lang="en-BG" smtClean="0"/>
              <a:t>‹#›</a:t>
            </a:fld>
            <a:endParaRPr lang="en-BG"/>
          </a:p>
        </p:txBody>
      </p:sp>
    </p:spTree>
    <p:extLst>
      <p:ext uri="{BB962C8B-B14F-4D97-AF65-F5344CB8AC3E}">
        <p14:creationId xmlns:p14="http://schemas.microsoft.com/office/powerpoint/2010/main" val="25982552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800600"/>
            <a:ext cx="10561418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5" name="Picture Placeholder 14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0" y="0"/>
            <a:ext cx="12192000" cy="4800600"/>
          </a:xfrm>
          <a:custGeom>
            <a:avLst/>
            <a:gdLst/>
            <a:ahLst/>
            <a:cxnLst/>
            <a:rect l="0" t="0" r="r" b="b"/>
            <a:pathLst>
              <a:path w="5760" h="3289">
                <a:moveTo>
                  <a:pt x="5760" y="0"/>
                </a:moveTo>
                <a:lnTo>
                  <a:pt x="0" y="0"/>
                </a:lnTo>
                <a:lnTo>
                  <a:pt x="0" y="3100"/>
                </a:lnTo>
                <a:lnTo>
                  <a:pt x="943" y="3100"/>
                </a:lnTo>
                <a:lnTo>
                  <a:pt x="1123" y="3281"/>
                </a:lnTo>
                <a:lnTo>
                  <a:pt x="1123" y="3281"/>
                </a:lnTo>
                <a:lnTo>
                  <a:pt x="1127" y="3283"/>
                </a:lnTo>
                <a:lnTo>
                  <a:pt x="1133" y="3286"/>
                </a:lnTo>
                <a:lnTo>
                  <a:pt x="1139" y="3289"/>
                </a:lnTo>
                <a:lnTo>
                  <a:pt x="1144" y="3289"/>
                </a:lnTo>
                <a:lnTo>
                  <a:pt x="1150" y="3289"/>
                </a:lnTo>
                <a:lnTo>
                  <a:pt x="1155" y="3286"/>
                </a:lnTo>
                <a:lnTo>
                  <a:pt x="1161" y="3283"/>
                </a:lnTo>
                <a:lnTo>
                  <a:pt x="1165" y="3281"/>
                </a:lnTo>
                <a:lnTo>
                  <a:pt x="1345" y="3100"/>
                </a:lnTo>
                <a:lnTo>
                  <a:pt x="5760" y="3100"/>
                </a:lnTo>
                <a:lnTo>
                  <a:pt x="5760" y="0"/>
                </a:lnTo>
                <a:close/>
              </a:path>
            </a:pathLst>
          </a:custGeom>
          <a:noFill/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marL="0" indent="0" algn="ctr">
              <a:buFontTx/>
              <a:buNone/>
              <a:defRPr sz="1600"/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0000" y="5367338"/>
            <a:ext cx="10561418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23082D-F9C3-F04F-AD06-B01828207846}" type="datetimeFigureOut">
              <a:rPr lang="en-BG" smtClean="0"/>
              <a:t>24.05.26</a:t>
            </a:fld>
            <a:endParaRPr lang="en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EFB70-32D5-8C43-B33C-67B1E5D717A6}" type="slidenum">
              <a:rPr lang="en-BG" smtClean="0"/>
              <a:t>‹#›</a:t>
            </a:fld>
            <a:endParaRPr lang="en-BG"/>
          </a:p>
        </p:txBody>
      </p:sp>
    </p:spTree>
    <p:extLst>
      <p:ext uri="{BB962C8B-B14F-4D97-AF65-F5344CB8AC3E}">
        <p14:creationId xmlns:p14="http://schemas.microsoft.com/office/powerpoint/2010/main" val="11147583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>
            <a:spLocks noChangeAspect="1"/>
          </p:cNvSpPr>
          <p:nvPr/>
        </p:nvSpPr>
        <p:spPr bwMode="auto">
          <a:xfrm>
            <a:off x="631697" y="1081456"/>
            <a:ext cx="6332416" cy="3239188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0985" y="1238502"/>
            <a:ext cx="5893840" cy="2645912"/>
          </a:xfrm>
        </p:spPr>
        <p:txBody>
          <a:bodyPr anchor="b"/>
          <a:lstStyle>
            <a:lvl1pPr algn="l">
              <a:defRPr sz="4200" b="1" cap="none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3190" y="4443680"/>
            <a:ext cx="5891636" cy="713241"/>
          </a:xfrm>
        </p:spPr>
        <p:txBody>
          <a:bodyPr anchor="t">
            <a:no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9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7574642" y="1081456"/>
            <a:ext cx="3810001" cy="4075465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23082D-F9C3-F04F-AD06-B01828207846}" type="datetimeFigureOut">
              <a:rPr lang="en-BG" smtClean="0"/>
              <a:t>24.05.26</a:t>
            </a:fld>
            <a:endParaRPr lang="en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EFB70-32D5-8C43-B33C-67B1E5D717A6}" type="slidenum">
              <a:rPr lang="en-BG" smtClean="0"/>
              <a:t>‹#›</a:t>
            </a:fld>
            <a:endParaRPr lang="en-BG"/>
          </a:p>
        </p:txBody>
      </p:sp>
    </p:spTree>
    <p:extLst>
      <p:ext uri="{BB962C8B-B14F-4D97-AF65-F5344CB8AC3E}">
        <p14:creationId xmlns:p14="http://schemas.microsoft.com/office/powerpoint/2010/main" val="18075992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 6"/>
          <p:cNvSpPr>
            <a:spLocks noChangeAspect="1"/>
          </p:cNvSpPr>
          <p:nvPr/>
        </p:nvSpPr>
        <p:spPr bwMode="auto">
          <a:xfrm>
            <a:off x="1140884" y="2286585"/>
            <a:ext cx="4895115" cy="2503972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38" name="Title 1"/>
          <p:cNvSpPr>
            <a:spLocks noGrp="1"/>
          </p:cNvSpPr>
          <p:nvPr>
            <p:ph type="title"/>
          </p:nvPr>
        </p:nvSpPr>
        <p:spPr>
          <a:xfrm>
            <a:off x="1357089" y="2435957"/>
            <a:ext cx="4382521" cy="2007789"/>
          </a:xfrm>
        </p:spPr>
        <p:txBody>
          <a:bodyPr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6156000" y="2286000"/>
            <a:ext cx="4880300" cy="2295525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23082D-F9C3-F04F-AD06-B01828207846}" type="datetimeFigureOut">
              <a:rPr lang="en-BG" smtClean="0"/>
              <a:t>24.05.26</a:t>
            </a:fld>
            <a:endParaRPr lang="en-BG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G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EFB70-32D5-8C43-B33C-67B1E5D717A6}" type="slidenum">
              <a:rPr lang="en-BG" smtClean="0"/>
              <a:t>‹#›</a:t>
            </a:fld>
            <a:endParaRPr lang="en-BG"/>
          </a:p>
        </p:txBody>
      </p:sp>
    </p:spTree>
    <p:extLst>
      <p:ext uri="{BB962C8B-B14F-4D97-AF65-F5344CB8AC3E}">
        <p14:creationId xmlns:p14="http://schemas.microsoft.com/office/powerpoint/2010/main" val="1918512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23082D-F9C3-F04F-AD06-B01828207846}" type="datetimeFigureOut">
              <a:rPr lang="en-BG" smtClean="0"/>
              <a:t>24.05.26</a:t>
            </a:fld>
            <a:endParaRPr lang="en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EFB70-32D5-8C43-B33C-67B1E5D717A6}" type="slidenum">
              <a:rPr lang="en-BG" smtClean="0"/>
              <a:t>‹#›</a:t>
            </a:fld>
            <a:endParaRPr lang="en-BG"/>
          </a:p>
        </p:txBody>
      </p:sp>
    </p:spTree>
    <p:extLst>
      <p:ext uri="{BB962C8B-B14F-4D97-AF65-F5344CB8AC3E}">
        <p14:creationId xmlns:p14="http://schemas.microsoft.com/office/powerpoint/2010/main" val="32054829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7669651" y="446089"/>
            <a:ext cx="4522349" cy="5414962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183540" y="586171"/>
            <a:ext cx="2494791" cy="513479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0001" y="446089"/>
            <a:ext cx="6611540" cy="5414962"/>
          </a:xfrm>
        </p:spPr>
        <p:txBody>
          <a:bodyPr vert="eaVert" anchor="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23082D-F9C3-F04F-AD06-B01828207846}" type="datetimeFigureOut">
              <a:rPr lang="en-BG" smtClean="0"/>
              <a:t>24.05.26</a:t>
            </a:fld>
            <a:endParaRPr lang="en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EFB70-32D5-8C43-B33C-67B1E5D717A6}" type="slidenum">
              <a:rPr lang="en-BG" smtClean="0"/>
              <a:t>‹#›</a:t>
            </a:fld>
            <a:endParaRPr lang="en-BG"/>
          </a:p>
        </p:txBody>
      </p:sp>
    </p:spTree>
    <p:extLst>
      <p:ext uri="{BB962C8B-B14F-4D97-AF65-F5344CB8AC3E}">
        <p14:creationId xmlns:p14="http://schemas.microsoft.com/office/powerpoint/2010/main" val="31607715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effectLst>
            <a:outerShdw blurRad="50800" dir="14400000">
              <a:srgbClr val="000000">
                <a:alpha val="60000"/>
              </a:srgbClr>
            </a:outerShdw>
          </a:effectLst>
        </p:spPr>
        <p:txBody>
          <a:bodyPr vert="horz" lIns="91440" tIns="45720" rIns="91440" bIns="45720" rtlCol="0" anchor="b">
            <a:no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000" y="2184401"/>
            <a:ext cx="10563285" cy="3674397"/>
          </a:xfrm>
          <a:prstGeom prst="rect">
            <a:avLst/>
          </a:prstGeom>
          <a:effectLst>
            <a:outerShdw blurRad="50800" dir="14400000">
              <a:srgbClr val="000000">
                <a:alpha val="40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1514" y="6041362"/>
            <a:ext cx="8644320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en-BG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334626" y="6041362"/>
            <a:ext cx="1343706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5523082D-F9C3-F04F-AD06-B01828207846}" type="datetimeFigureOut">
              <a:rPr lang="en-BG" smtClean="0"/>
              <a:t>24.05.26</a:t>
            </a:fld>
            <a:endParaRPr lang="en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78331" y="5915888"/>
            <a:ext cx="1062155" cy="490599"/>
          </a:xfrm>
          <a:prstGeom prst="rect">
            <a:avLst/>
          </a:prstGeom>
        </p:spPr>
        <p:txBody>
          <a:bodyPr vert="horz" lIns="91440" tIns="45720" rIns="91440" bIns="10800" rtlCol="0" anchor="b"/>
          <a:lstStyle>
            <a:lvl1pPr algn="r">
              <a:defRPr sz="2000">
                <a:solidFill>
                  <a:schemeClr val="accent1"/>
                </a:solidFill>
              </a:defRPr>
            </a:lvl1pPr>
          </a:lstStyle>
          <a:p>
            <a:fld id="{1B2EFB70-32D5-8C43-B33C-67B1E5D717A6}" type="slidenum">
              <a:rPr lang="en-BG" smtClean="0"/>
              <a:t>‹#›</a:t>
            </a:fld>
            <a:endParaRPr lang="en-BG"/>
          </a:p>
        </p:txBody>
      </p:sp>
    </p:spTree>
    <p:extLst>
      <p:ext uri="{BB962C8B-B14F-4D97-AF65-F5344CB8AC3E}">
        <p14:creationId xmlns:p14="http://schemas.microsoft.com/office/powerpoint/2010/main" val="241377168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93" r:id="rId1"/>
    <p:sldLayoutId id="2147483794" r:id="rId2"/>
    <p:sldLayoutId id="2147483795" r:id="rId3"/>
    <p:sldLayoutId id="2147483796" r:id="rId4"/>
    <p:sldLayoutId id="2147483797" r:id="rId5"/>
    <p:sldLayoutId id="2147483798" r:id="rId6"/>
    <p:sldLayoutId id="2147483799" r:id="rId7"/>
    <p:sldLayoutId id="2147483800" r:id="rId8"/>
    <p:sldLayoutId id="2147483801" r:id="rId9"/>
    <p:sldLayoutId id="2147483802" r:id="rId10"/>
    <p:sldLayoutId id="2147483803" r:id="rId11"/>
    <p:sldLayoutId id="2147483804" r:id="rId12"/>
    <p:sldLayoutId id="2147483805" r:id="rId13"/>
    <p:sldLayoutId id="2147483806" r:id="rId14"/>
  </p:sldLayoutIdLst>
  <p:txStyles>
    <p:titleStyle>
      <a:lvl1pPr algn="l" defTabSz="457200" rtl="0" eaLnBrk="1" latinLnBrk="0" hangingPunct="1">
        <a:spcBef>
          <a:spcPct val="0"/>
        </a:spcBef>
        <a:buNone/>
        <a:defRPr sz="4000" b="1" kern="1200">
          <a:solidFill>
            <a:srgbClr val="FEFEFE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4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36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B8F5419B-BCBD-42A2-BFFF-781C607339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61F6493-A11B-9F02-D08F-555DC61A1B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10001" y="643467"/>
            <a:ext cx="10572000" cy="3776731"/>
          </a:xfrm>
          <a:effectLst/>
        </p:spPr>
        <p:txBody>
          <a:bodyPr>
            <a:normAutofit/>
          </a:bodyPr>
          <a:lstStyle/>
          <a:p>
            <a:r>
              <a:rPr lang="bg-BG" sz="6600" dirty="0">
                <a:solidFill>
                  <a:schemeClr val="tx1"/>
                </a:solidFill>
              </a:rPr>
              <a:t>Криптографско </a:t>
            </a:r>
            <a:r>
              <a:rPr lang="en-GB" sz="6600" dirty="0">
                <a:solidFill>
                  <a:schemeClr val="tx1"/>
                </a:solidFill>
              </a:rPr>
              <a:t>API </a:t>
            </a:r>
            <a:r>
              <a:rPr lang="bg-BG" sz="6600" dirty="0">
                <a:solidFill>
                  <a:schemeClr val="tx1"/>
                </a:solidFill>
              </a:rPr>
              <a:t>в уеб средата</a:t>
            </a:r>
            <a:endParaRPr lang="en-BG" sz="6600" dirty="0">
              <a:solidFill>
                <a:schemeClr val="tx1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68CFDAE-B7AD-2004-142F-3A0AB41F6AB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10001" y="4420198"/>
            <a:ext cx="10572000" cy="1295623"/>
          </a:xfrm>
          <a:effectLst/>
        </p:spPr>
        <p:txBody>
          <a:bodyPr>
            <a:normAutofit/>
          </a:bodyPr>
          <a:lstStyle/>
          <a:p>
            <a:r>
              <a:rPr lang="bg-BG" sz="2400" dirty="0">
                <a:solidFill>
                  <a:schemeClr val="accent1"/>
                </a:solidFill>
              </a:rPr>
              <a:t>Йоан Байчев</a:t>
            </a:r>
            <a:endParaRPr lang="en-US" sz="2400" dirty="0">
              <a:solidFill>
                <a:schemeClr val="accent1"/>
              </a:solidFill>
            </a:endParaRPr>
          </a:p>
          <a:p>
            <a:r>
              <a:rPr lang="en-US" sz="2400" dirty="0">
                <a:solidFill>
                  <a:schemeClr val="accent1"/>
                </a:solidFill>
              </a:rPr>
              <a:t>0MI0600328</a:t>
            </a:r>
            <a:endParaRPr lang="en-BG" sz="240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536706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6D0A9C-7FBE-0321-5396-2FA45CC43F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Защо изобщо ни трябва?</a:t>
            </a:r>
            <a:endParaRPr lang="en-B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2C8F52-748A-C28C-0055-63931AC0D2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BG" dirty="0"/>
              <a:t>Логин и токени</a:t>
            </a:r>
          </a:p>
          <a:p>
            <a:r>
              <a:rPr lang="en-BG" dirty="0"/>
              <a:t>Криптиране на файл още преди качване      </a:t>
            </a:r>
          </a:p>
          <a:p>
            <a:r>
              <a:rPr lang="en-BG" dirty="0"/>
              <a:t>Подпис/проверка на цялост</a:t>
            </a:r>
          </a:p>
          <a:p>
            <a:endParaRPr lang="en-BG" dirty="0"/>
          </a:p>
        </p:txBody>
      </p:sp>
    </p:spTree>
    <p:extLst>
      <p:ext uri="{BB962C8B-B14F-4D97-AF65-F5344CB8AC3E}">
        <p14:creationId xmlns:p14="http://schemas.microsoft.com/office/powerpoint/2010/main" val="24586694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2F24B0-5028-9253-188A-5EFD37DD2B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Какво е </a:t>
            </a:r>
            <a:r>
              <a:rPr lang="en-GB" dirty="0"/>
              <a:t>Web Cryptography API?</a:t>
            </a:r>
            <a:endParaRPr lang="en-B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FAA134-7655-1571-0327-B105DA3DDC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bg-BG" dirty="0"/>
              <a:t>Стандартен интерфейс</a:t>
            </a:r>
          </a:p>
          <a:p>
            <a:r>
              <a:rPr lang="bg-BG" dirty="0"/>
              <a:t>Достъпване</a:t>
            </a:r>
          </a:p>
          <a:p>
            <a:pPr lvl="1"/>
            <a:r>
              <a:rPr lang="en-GB" dirty="0" err="1"/>
              <a:t>window.crypto</a:t>
            </a:r>
            <a:r>
              <a:rPr lang="bg-BG" dirty="0"/>
              <a:t> (за общи неща)</a:t>
            </a:r>
          </a:p>
          <a:p>
            <a:pPr lvl="1"/>
            <a:r>
              <a:rPr lang="en-GB" dirty="0" err="1"/>
              <a:t>crypto.subtle</a:t>
            </a:r>
            <a:r>
              <a:rPr lang="bg-BG" dirty="0"/>
              <a:t> (за самите оперативни неща)</a:t>
            </a:r>
          </a:p>
          <a:p>
            <a:r>
              <a:rPr lang="bg-BG" dirty="0"/>
              <a:t>Защо е по добре от </a:t>
            </a:r>
            <a:r>
              <a:rPr lang="en-US" dirty="0"/>
              <a:t>JS</a:t>
            </a:r>
            <a:r>
              <a:rPr lang="bg-BG" dirty="0"/>
              <a:t> библиотека</a:t>
            </a:r>
            <a:r>
              <a:rPr lang="en-US" dirty="0"/>
              <a:t>?</a:t>
            </a:r>
          </a:p>
          <a:p>
            <a:pPr marL="0" indent="0">
              <a:buNone/>
            </a:pPr>
            <a:endParaRPr lang="en-BG" dirty="0"/>
          </a:p>
        </p:txBody>
      </p:sp>
    </p:spTree>
    <p:extLst>
      <p:ext uri="{BB962C8B-B14F-4D97-AF65-F5344CB8AC3E}">
        <p14:creationId xmlns:p14="http://schemas.microsoft.com/office/powerpoint/2010/main" val="42219100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D4CF12-6BAE-7B85-E82E-31CA2BCB1D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Архитектура</a:t>
            </a:r>
            <a:endParaRPr lang="en-BG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3A4FA4BC-D227-0ECE-61F3-70B6CD734A4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564640" y="2509520"/>
            <a:ext cx="8061960" cy="3992879"/>
          </a:xfrm>
          <a:prstGeom prst="rect">
            <a:avLst/>
          </a:prstGeom>
          <a:effectLst>
            <a:outerShdw blurRad="50800" dir="1440000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003686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ACC7B4-1DF3-E4D1-2F78-C68419F34D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Поток на едно повикване</a:t>
            </a:r>
            <a:endParaRPr lang="en-BG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F7FF903-6C2F-93F7-3978-07BA9613C6B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869440" y="2641600"/>
            <a:ext cx="7548880" cy="3769212"/>
          </a:xfrm>
          <a:prstGeom prst="rect">
            <a:avLst/>
          </a:prstGeom>
          <a:effectLst>
            <a:outerShdw blurRad="50800" dir="1440000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7089881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7D312A-D6E3-1725-04BA-DECB641B9F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Какво може </a:t>
            </a:r>
            <a:r>
              <a:rPr lang="en-GB" dirty="0" err="1"/>
              <a:t>SubtleCrypto</a:t>
            </a:r>
            <a:r>
              <a:rPr lang="en-GB" dirty="0"/>
              <a:t>?</a:t>
            </a:r>
            <a:endParaRPr lang="en-B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EC0886-7273-A4FF-FBB0-B0FB66DC71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0000" y="1971915"/>
            <a:ext cx="10554574" cy="3636511"/>
          </a:xfrm>
        </p:spPr>
        <p:txBody>
          <a:bodyPr/>
          <a:lstStyle/>
          <a:p>
            <a:r>
              <a:rPr lang="bg-BG" dirty="0"/>
              <a:t>Криптографски операции</a:t>
            </a:r>
          </a:p>
          <a:p>
            <a:pPr lvl="1"/>
            <a:r>
              <a:rPr lang="bg-BG" dirty="0" err="1"/>
              <a:t>Хеширане</a:t>
            </a:r>
            <a:r>
              <a:rPr lang="bg-BG" dirty="0"/>
              <a:t> (</a:t>
            </a:r>
            <a:r>
              <a:rPr lang="en-US" dirty="0"/>
              <a:t>digest</a:t>
            </a:r>
            <a:r>
              <a:rPr lang="bg-BG" dirty="0"/>
              <a:t>)</a:t>
            </a:r>
            <a:endParaRPr lang="en-US" dirty="0"/>
          </a:p>
          <a:p>
            <a:pPr lvl="1"/>
            <a:r>
              <a:rPr lang="bg-BG" dirty="0"/>
              <a:t>Симетрично криптиране (</a:t>
            </a:r>
            <a:r>
              <a:rPr lang="en-US" dirty="0"/>
              <a:t>encrypt </a:t>
            </a:r>
            <a:r>
              <a:rPr lang="bg-BG" dirty="0"/>
              <a:t>и </a:t>
            </a:r>
            <a:r>
              <a:rPr lang="en-US" dirty="0"/>
              <a:t>decrypt</a:t>
            </a:r>
            <a:r>
              <a:rPr lang="bg-BG" dirty="0"/>
              <a:t>)</a:t>
            </a:r>
            <a:endParaRPr lang="en-US" dirty="0"/>
          </a:p>
          <a:p>
            <a:pPr lvl="1"/>
            <a:r>
              <a:rPr lang="bg-BG" dirty="0"/>
              <a:t>Асиметрично криптиране (</a:t>
            </a:r>
            <a:r>
              <a:rPr lang="en-US" dirty="0"/>
              <a:t>sign </a:t>
            </a:r>
            <a:r>
              <a:rPr lang="bg-BG" dirty="0"/>
              <a:t>и </a:t>
            </a:r>
            <a:r>
              <a:rPr lang="en-US" dirty="0"/>
              <a:t>verify</a:t>
            </a:r>
            <a:r>
              <a:rPr lang="bg-BG" dirty="0"/>
              <a:t>)</a:t>
            </a:r>
          </a:p>
          <a:p>
            <a:pPr lvl="1"/>
            <a:r>
              <a:rPr lang="bg-BG" dirty="0"/>
              <a:t>Управление на ключовете (</a:t>
            </a:r>
            <a:r>
              <a:rPr lang="en-US" dirty="0" err="1"/>
              <a:t>generateKey</a:t>
            </a:r>
            <a:r>
              <a:rPr lang="bg-BG" dirty="0"/>
              <a:t>) </a:t>
            </a:r>
            <a:endParaRPr lang="en-BG" dirty="0"/>
          </a:p>
        </p:txBody>
      </p:sp>
    </p:spTree>
    <p:extLst>
      <p:ext uri="{BB962C8B-B14F-4D97-AF65-F5344CB8AC3E}">
        <p14:creationId xmlns:p14="http://schemas.microsoft.com/office/powerpoint/2010/main" val="17597045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307326-0D4B-4A90-1918-37DBC43428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Secure Context</a:t>
            </a:r>
            <a:endParaRPr lang="en-BG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DC0D5F2A-D5CE-FDC7-E997-FF2CD2399CD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25488596"/>
              </p:ext>
            </p:extLst>
          </p:nvPr>
        </p:nvGraphicFramePr>
        <p:xfrm>
          <a:off x="619186" y="3627333"/>
          <a:ext cx="10754100" cy="27152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77050">
                  <a:extLst>
                    <a:ext uri="{9D8B030D-6E8A-4147-A177-3AD203B41FA5}">
                      <a16:colId xmlns:a16="http://schemas.microsoft.com/office/drawing/2014/main" val="3850152018"/>
                    </a:ext>
                  </a:extLst>
                </a:gridCol>
                <a:gridCol w="5377050">
                  <a:extLst>
                    <a:ext uri="{9D8B030D-6E8A-4147-A177-3AD203B41FA5}">
                      <a16:colId xmlns:a16="http://schemas.microsoft.com/office/drawing/2014/main" val="4083978232"/>
                    </a:ext>
                  </a:extLst>
                </a:gridCol>
              </a:tblGrid>
              <a:tr h="678815">
                <a:tc>
                  <a:txBody>
                    <a:bodyPr/>
                    <a:lstStyle/>
                    <a:p>
                      <a:r>
                        <a:rPr lang="bg-BG" dirty="0"/>
                        <a:t>✅</a:t>
                      </a:r>
                      <a:r>
                        <a:rPr lang="en-US" dirty="0"/>
                        <a:t> </a:t>
                      </a:r>
                      <a:r>
                        <a:rPr lang="bg-BG" dirty="0"/>
                        <a:t>Работи</a:t>
                      </a:r>
                      <a:endParaRPr lang="en-B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bg-BG" dirty="0"/>
                        <a:t>❌</a:t>
                      </a:r>
                      <a:r>
                        <a:rPr lang="en-US" dirty="0"/>
                        <a:t> </a:t>
                      </a:r>
                      <a:r>
                        <a:rPr lang="bg-BG" dirty="0"/>
                        <a:t>Не работи</a:t>
                      </a:r>
                      <a:endParaRPr lang="en-B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82872203"/>
                  </a:ext>
                </a:extLst>
              </a:tr>
              <a:tr h="678815">
                <a:tc>
                  <a:txBody>
                    <a:bodyPr/>
                    <a:lstStyle/>
                    <a:p>
                      <a:r>
                        <a:rPr lang="en-GB" dirty="0"/>
                        <a:t>https://...</a:t>
                      </a:r>
                      <a:endParaRPr lang="en-B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http://...</a:t>
                      </a:r>
                      <a:endParaRPr lang="en-B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9322114"/>
                  </a:ext>
                </a:extLst>
              </a:tr>
              <a:tr h="678815">
                <a:tc>
                  <a:txBody>
                    <a:bodyPr/>
                    <a:lstStyle/>
                    <a:p>
                      <a:r>
                        <a:rPr lang="en-GB" dirty="0"/>
                        <a:t>http://localhost</a:t>
                      </a:r>
                      <a:endParaRPr lang="en-B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file:///...</a:t>
                      </a:r>
                      <a:endParaRPr lang="en-B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8515567"/>
                  </a:ext>
                </a:extLst>
              </a:tr>
              <a:tr h="678815">
                <a:tc>
                  <a:txBody>
                    <a:bodyPr/>
                    <a:lstStyle/>
                    <a:p>
                      <a:r>
                        <a:rPr lang="en-GB" dirty="0"/>
                        <a:t>http://127.0.0.1</a:t>
                      </a:r>
                      <a:endParaRPr lang="en-B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bg-BG" dirty="0"/>
                        <a:t>смесен </a:t>
                      </a:r>
                      <a:r>
                        <a:rPr lang="en-GB" dirty="0"/>
                        <a:t>HTTP/HTTPS</a:t>
                      </a:r>
                      <a:endParaRPr lang="en-B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20973276"/>
                  </a:ext>
                </a:extLst>
              </a:tr>
            </a:tbl>
          </a:graphicData>
        </a:graphic>
      </p:graphicFrame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2FB43FBE-BDD2-7AC1-A666-0A745E0D8090}"/>
              </a:ext>
            </a:extLst>
          </p:cNvPr>
          <p:cNvSpPr txBox="1">
            <a:spLocks/>
          </p:cNvSpPr>
          <p:nvPr/>
        </p:nvSpPr>
        <p:spPr>
          <a:xfrm>
            <a:off x="718949" y="2638847"/>
            <a:ext cx="10554574" cy="480273"/>
          </a:xfrm>
          <a:prstGeom prst="rect">
            <a:avLst/>
          </a:prstGeom>
          <a:effectLst>
            <a:outerShdw blurRad="50800" dir="14400000">
              <a:srgbClr val="000000">
                <a:alpha val="40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Font typeface="Wingdings 2" charset="2"/>
              <a:buChar char="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Font typeface="Wingdings 2" charset="2"/>
              <a:buChar char="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Font typeface="Wingdings 2" charset="2"/>
              <a:buChar char="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Font typeface="Wingdings 2" charset="2"/>
              <a:buChar char="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Font typeface="Wingdings 2" charset="2"/>
              <a:buChar char="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4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Font typeface="Wingdings 2" charset="2"/>
              <a:buChar char="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Font typeface="Wingdings 2" charset="2"/>
              <a:buChar char="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Font typeface="Wingdings 2" charset="2"/>
              <a:buChar char="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Font typeface="Wingdings 2" charset="2"/>
              <a:buChar char="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bg-BG" dirty="0"/>
              <a:t>Какво е</a:t>
            </a:r>
            <a:r>
              <a:rPr lang="en-GB" dirty="0"/>
              <a:t> Secure Context</a:t>
            </a:r>
            <a:r>
              <a:rPr lang="bg-BG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4751877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68881-A9AA-7C18-5927-D2B1E5B2C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Подводни камъни</a:t>
            </a:r>
            <a:endParaRPr lang="en-BG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E85C25DA-7A37-C3A0-79E5-905BD8472CE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40722531"/>
              </p:ext>
            </p:extLst>
          </p:nvPr>
        </p:nvGraphicFramePr>
        <p:xfrm>
          <a:off x="800852" y="2954020"/>
          <a:ext cx="105537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76850">
                  <a:extLst>
                    <a:ext uri="{9D8B030D-6E8A-4147-A177-3AD203B41FA5}">
                      <a16:colId xmlns:a16="http://schemas.microsoft.com/office/drawing/2014/main" val="4179130506"/>
                    </a:ext>
                  </a:extLst>
                </a:gridCol>
                <a:gridCol w="5276850">
                  <a:extLst>
                    <a:ext uri="{9D8B030D-6E8A-4147-A177-3AD203B41FA5}">
                      <a16:colId xmlns:a16="http://schemas.microsoft.com/office/drawing/2014/main" val="1224474761"/>
                    </a:ext>
                  </a:extLst>
                </a:gridCol>
              </a:tblGrid>
              <a:tr h="739775">
                <a:tc>
                  <a:txBody>
                    <a:bodyPr/>
                    <a:lstStyle/>
                    <a:p>
                      <a:r>
                        <a:rPr lang="bg-BG" dirty="0"/>
                        <a:t>⚠️ Грешка</a:t>
                      </a:r>
                      <a:endParaRPr lang="en-B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bg-BG" dirty="0"/>
                        <a:t>💥</a:t>
                      </a:r>
                      <a:r>
                        <a:rPr lang="en-US" dirty="0"/>
                        <a:t> </a:t>
                      </a:r>
                      <a:r>
                        <a:rPr lang="bg-BG" dirty="0"/>
                        <a:t>Защо е проблем</a:t>
                      </a:r>
                      <a:endParaRPr lang="en-B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67988359"/>
                  </a:ext>
                </a:extLst>
              </a:tr>
              <a:tr h="739775">
                <a:tc>
                  <a:txBody>
                    <a:bodyPr/>
                    <a:lstStyle/>
                    <a:p>
                      <a:r>
                        <a:rPr lang="bg-BG" dirty="0" err="1"/>
                        <a:t>Преизползван</a:t>
                      </a:r>
                      <a:r>
                        <a:rPr lang="bg-BG" dirty="0"/>
                        <a:t> </a:t>
                      </a:r>
                      <a:r>
                        <a:rPr lang="en-GB" dirty="0"/>
                        <a:t>IV </a:t>
                      </a:r>
                      <a:r>
                        <a:rPr lang="bg-BG" dirty="0"/>
                        <a:t>в </a:t>
                      </a:r>
                      <a:r>
                        <a:rPr lang="en-GB" dirty="0"/>
                        <a:t>AES-GCM</a:t>
                      </a:r>
                      <a:endParaRPr lang="en-B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bg-BG" dirty="0"/>
                        <a:t>Режимът се чупи, ключът може да изтече</a:t>
                      </a:r>
                      <a:endParaRPr lang="en-B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8154636"/>
                  </a:ext>
                </a:extLst>
              </a:tr>
              <a:tr h="739775">
                <a:tc>
                  <a:txBody>
                    <a:bodyPr/>
                    <a:lstStyle/>
                    <a:p>
                      <a:r>
                        <a:rPr lang="en-GB" dirty="0"/>
                        <a:t>digest </a:t>
                      </a:r>
                      <a:r>
                        <a:rPr lang="bg-BG" dirty="0"/>
                        <a:t>за пароли</a:t>
                      </a:r>
                      <a:endParaRPr lang="en-B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bg-BG" dirty="0"/>
                        <a:t>Твърде бърз — </a:t>
                      </a:r>
                      <a:r>
                        <a:rPr lang="bg-BG" dirty="0" err="1"/>
                        <a:t>бруте</a:t>
                      </a:r>
                      <a:r>
                        <a:rPr lang="bg-BG" dirty="0"/>
                        <a:t> </a:t>
                      </a:r>
                      <a:r>
                        <a:rPr lang="bg-BG" dirty="0" err="1"/>
                        <a:t>форс</a:t>
                      </a:r>
                      <a:r>
                        <a:rPr lang="bg-BG" dirty="0"/>
                        <a:t> е тривиален</a:t>
                      </a:r>
                      <a:endParaRPr lang="en-B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8509918"/>
                  </a:ext>
                </a:extLst>
              </a:tr>
              <a:tr h="739775">
                <a:tc>
                  <a:txBody>
                    <a:bodyPr/>
                    <a:lstStyle/>
                    <a:p>
                      <a:r>
                        <a:rPr lang="bg-BG" dirty="0"/>
                        <a:t>Забравен </a:t>
                      </a:r>
                      <a:r>
                        <a:rPr lang="en-GB" dirty="0"/>
                        <a:t>secure context</a:t>
                      </a:r>
                      <a:endParaRPr lang="en-B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err="1"/>
                        <a:t>crypto.subtle</a:t>
                      </a:r>
                      <a:r>
                        <a:rPr lang="en-GB" dirty="0"/>
                        <a:t> </a:t>
                      </a:r>
                      <a:r>
                        <a:rPr lang="bg-BG" dirty="0"/>
                        <a:t>е </a:t>
                      </a:r>
                      <a:r>
                        <a:rPr lang="en-GB" dirty="0"/>
                        <a:t>undefined</a:t>
                      </a:r>
                      <a:endParaRPr lang="en-B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830549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829993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0AE4BE-BE10-B137-9A54-245F4A030C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Кодов пример: </a:t>
            </a:r>
            <a:r>
              <a:rPr lang="en-GB" dirty="0"/>
              <a:t>SHA-256</a:t>
            </a:r>
            <a:endParaRPr lang="en-BG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7E7E84E-A1A5-EE91-4CE9-1EEA4548F3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910" y="2556362"/>
            <a:ext cx="8843010" cy="3854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33002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A371FC-EE55-A19A-5772-5DCC8B017E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Извод</a:t>
            </a:r>
            <a:endParaRPr lang="en-B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F5F7E8-1FDD-97C0-A80F-42005A3887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Web Crypto = </a:t>
            </a:r>
            <a:r>
              <a:rPr lang="bg-BG" dirty="0"/>
              <a:t>по-бързо, по-сигурно, по-малко код от чист </a:t>
            </a:r>
            <a:r>
              <a:rPr lang="en-GB" dirty="0"/>
              <a:t>JS</a:t>
            </a:r>
          </a:p>
          <a:p>
            <a:r>
              <a:rPr lang="bg-BG" dirty="0"/>
              <a:t>Не заменя </a:t>
            </a:r>
            <a:r>
              <a:rPr lang="en-GB" dirty="0"/>
              <a:t>TLS - </a:t>
            </a:r>
            <a:r>
              <a:rPr lang="bg-BG" dirty="0"/>
              <a:t>допълва го за операции вътре в страницата</a:t>
            </a:r>
            <a:endParaRPr lang="en-US" dirty="0"/>
          </a:p>
          <a:p>
            <a:r>
              <a:rPr lang="bg-BG" dirty="0"/>
              <a:t>Винаги: </a:t>
            </a:r>
            <a:r>
              <a:rPr lang="en-GB" dirty="0"/>
              <a:t>secure context + </a:t>
            </a:r>
            <a:r>
              <a:rPr lang="bg-BG" dirty="0"/>
              <a:t>правилни параметри</a:t>
            </a:r>
            <a:endParaRPr lang="en-BG" dirty="0"/>
          </a:p>
        </p:txBody>
      </p:sp>
    </p:spTree>
    <p:extLst>
      <p:ext uri="{BB962C8B-B14F-4D97-AF65-F5344CB8AC3E}">
        <p14:creationId xmlns:p14="http://schemas.microsoft.com/office/powerpoint/2010/main" val="1781118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73967E-F1E0-1E66-95A0-9BCF5523F57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bg-BG" dirty="0"/>
              <a:t>Благодаря за вниманието!</a:t>
            </a:r>
            <a:endParaRPr lang="en-BG" dirty="0"/>
          </a:p>
        </p:txBody>
      </p:sp>
    </p:spTree>
    <p:extLst>
      <p:ext uri="{BB962C8B-B14F-4D97-AF65-F5344CB8AC3E}">
        <p14:creationId xmlns:p14="http://schemas.microsoft.com/office/powerpoint/2010/main" val="2304613587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Quotable">
  <a:themeElements>
    <a:clrScheme name="Quotable">
      <a:dk1>
        <a:sysClr val="windowText" lastClr="000000"/>
      </a:dk1>
      <a:lt1>
        <a:sysClr val="window" lastClr="FFFFFF"/>
      </a:lt1>
      <a:dk2>
        <a:srgbClr val="212121"/>
      </a:dk2>
      <a:lt2>
        <a:srgbClr val="636363"/>
      </a:lt2>
      <a:accent1>
        <a:srgbClr val="00C6BB"/>
      </a:accent1>
      <a:accent2>
        <a:srgbClr val="6FEBA0"/>
      </a:accent2>
      <a:accent3>
        <a:srgbClr val="B6DF5E"/>
      </a:accent3>
      <a:accent4>
        <a:srgbClr val="EFB251"/>
      </a:accent4>
      <a:accent5>
        <a:srgbClr val="EF755F"/>
      </a:accent5>
      <a:accent6>
        <a:srgbClr val="ED515C"/>
      </a:accent6>
      <a:hlink>
        <a:srgbClr val="8F8F8F"/>
      </a:hlink>
      <a:folHlink>
        <a:srgbClr val="A5A5A5"/>
      </a:folHlink>
    </a:clrScheme>
    <a:fontScheme name="Quotable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Quotable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lumMod val="105000"/>
              </a:schemeClr>
            </a:gs>
            <a:gs pos="100000">
              <a:schemeClr val="phClr">
                <a:tint val="90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tint val="98000"/>
                <a:lumMod val="102000"/>
              </a:schemeClr>
              <a:schemeClr val="phClr">
                <a:shade val="98000"/>
                <a:lumMod val="98000"/>
              </a:schemeClr>
            </a:duotone>
          </a:blip>
          <a:tile tx="0" ty="0" sx="100000" sy="100000" flip="none" algn="tl"/>
        </a:blipFill>
      </a:fillStyleLst>
      <a:lnStyleLst>
        <a:ln w="9525" cap="rnd" cmpd="sng" algn="ctr">
          <a:solidFill>
            <a:schemeClr val="phClr"/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innerShdw blurRad="63500" dist="25400" dir="13500000">
              <a:srgbClr val="000000">
                <a:alpha val="75000"/>
              </a:srgbClr>
            </a:inn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</a:schemeClr>
            </a:gs>
            <a:gs pos="100000">
              <a:schemeClr val="phClr">
                <a:tint val="84000"/>
                <a:shade val="84000"/>
                <a:lumMod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90000"/>
                <a:satMod val="120000"/>
                <a:lumMod val="90000"/>
              </a:schemeClr>
            </a:gs>
            <a:gs pos="100000">
              <a:schemeClr val="phClr"/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Quotable" id="{39EC5628-30ED-4578-ACD8-9820EDB8E15A}" vid="{6F3559E9-1A4C-49D8-94D4-F41003531C49}"/>
    </a:ext>
  </a:extLst>
</a:theme>
</file>

<file path=docMetadata/LabelInfo.xml><?xml version="1.0" encoding="utf-8"?>
<clbl:labelList xmlns:clbl="http://schemas.microsoft.com/office/2020/mipLabelMetadata">
  <clbl:label id="{0cf7ac0a-4681-4823-ab0b-04ef02c5f873}" enabled="1" method="Privileged" siteId="{42f7676c-f455-423c-82f6-dc2d99791af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Quotable</Template>
  <TotalTime>56</TotalTime>
  <Words>201</Words>
  <Application>Microsoft Macintosh PowerPoint</Application>
  <PresentationFormat>Widescreen</PresentationFormat>
  <Paragraphs>46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Century Gothic</vt:lpstr>
      <vt:lpstr>Wingdings 2</vt:lpstr>
      <vt:lpstr>Quotable</vt:lpstr>
      <vt:lpstr>Криптографско API в уеб средата</vt:lpstr>
      <vt:lpstr>Защо изобщо ни трябва?</vt:lpstr>
      <vt:lpstr>Какво е Web Cryptography API?</vt:lpstr>
      <vt:lpstr>Архитектура</vt:lpstr>
      <vt:lpstr>Поток на едно повикване</vt:lpstr>
      <vt:lpstr>Какво може SubtleCrypto?</vt:lpstr>
      <vt:lpstr>Secure Context</vt:lpstr>
      <vt:lpstr>Подводни камъни</vt:lpstr>
      <vt:lpstr>Кодов пример: SHA-256</vt:lpstr>
      <vt:lpstr>Извод</vt:lpstr>
      <vt:lpstr>Благодаря за вниманието!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Baychev, Yoan</dc:creator>
  <cp:lastModifiedBy>Baychev, Yoan</cp:lastModifiedBy>
  <cp:revision>3</cp:revision>
  <dcterms:created xsi:type="dcterms:W3CDTF">2026-05-24T19:28:32Z</dcterms:created>
  <dcterms:modified xsi:type="dcterms:W3CDTF">2026-05-24T20:44:14Z</dcterms:modified>
</cp:coreProperties>
</file>